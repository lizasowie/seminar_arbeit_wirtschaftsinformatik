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1855" r:id="rId2"/>
    <p:sldId id="670" r:id="rId3"/>
    <p:sldId id="679" r:id="rId4"/>
    <p:sldId id="673" r:id="rId5"/>
    <p:sldId id="674" r:id="rId6"/>
    <p:sldId id="675" r:id="rId7"/>
    <p:sldId id="676" r:id="rId8"/>
    <p:sldId id="677" r:id="rId9"/>
    <p:sldId id="678" r:id="rId10"/>
    <p:sldId id="2232" r:id="rId11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205" userDrawn="1">
          <p15:clr>
            <a:srgbClr val="A4A3A4"/>
          </p15:clr>
        </p15:guide>
        <p15:guide id="2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9B37"/>
    <a:srgbClr val="FFCC66"/>
    <a:srgbClr val="DEDCCB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8"/>
    <p:restoredTop sz="91795"/>
  </p:normalViewPr>
  <p:slideViewPr>
    <p:cSldViewPr>
      <p:cViewPr varScale="1">
        <p:scale>
          <a:sx n="122" d="100"/>
          <a:sy n="122" d="100"/>
        </p:scale>
        <p:origin x="208" y="568"/>
      </p:cViewPr>
      <p:guideLst>
        <p:guide orient="horz" pos="3205"/>
        <p:guide pos="3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323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873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ndale Mono" pitchFamily="-107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ndale Mono" pitchFamily="-107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153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3153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ndale Mono" pitchFamily="-107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153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ndale Mono" pitchFamily="-107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9DDC5E44-63C0-EF42-9B94-8202B4B6C3D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96954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pitchFamily="-10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pitchFamily="-10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pitchFamily="-10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pitchFamily="-10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DC5E44-63C0-EF42-9B94-8202B4B6C3D9}" type="slidenum">
              <a:rPr lang="de-DE" smtClean="0"/>
              <a:pPr>
                <a:defRPr/>
              </a:pPr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89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9EE4CA6-2423-D24C-8585-95CA3641C66D}" type="slidenum">
              <a:rPr lang="de-DE" sz="1200">
                <a:latin typeface="Calibri"/>
              </a:rPr>
              <a:pPr/>
              <a:t>2</a:t>
            </a:fld>
            <a:endParaRPr lang="de-DE" sz="1200" dirty="0">
              <a:latin typeface="Calibri"/>
            </a:endParaRPr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5382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D67734B-6624-7041-9293-6D84E171BF55}" type="slidenum">
              <a:rPr lang="de-DE" sz="1200">
                <a:latin typeface="Calibri"/>
              </a:rPr>
              <a:pPr/>
              <a:t>4</a:t>
            </a:fld>
            <a:endParaRPr lang="de-DE" sz="1200" dirty="0">
              <a:latin typeface="Calibri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3005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3680B0F-C983-A94B-A7F8-4B8F822AC963}" type="slidenum">
              <a:rPr lang="de-DE" sz="1200">
                <a:latin typeface="Calibri"/>
              </a:rPr>
              <a:pPr/>
              <a:t>5</a:t>
            </a:fld>
            <a:endParaRPr lang="de-DE" sz="1200" dirty="0">
              <a:latin typeface="Calibri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9645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0" y="1059582"/>
            <a:ext cx="9144000" cy="408391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 eaLnBrk="0" hangingPunct="0"/>
            <a:endParaRPr lang="de-DE" sz="1350" dirty="0">
              <a:latin typeface="Calibri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457200" y="4935752"/>
            <a:ext cx="10668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fld id="{B7849735-95B2-AB44-9C74-7ECEA7ECDD33}" type="slidenum">
              <a:rPr lang="de-DE" sz="750" smtClean="0">
                <a:latin typeface="Calibri"/>
                <a:cs typeface="Calibri"/>
              </a:rPr>
              <a:pPr>
                <a:spcBef>
                  <a:spcPct val="50000"/>
                </a:spcBef>
                <a:defRPr/>
              </a:pPr>
              <a:t>‹Nr.›</a:t>
            </a:fld>
            <a:endParaRPr lang="de-DE" sz="750">
              <a:latin typeface="Calibri"/>
              <a:cs typeface="Calibri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62200" y="2304306"/>
            <a:ext cx="6781800" cy="800100"/>
          </a:xfrm>
          <a:ln>
            <a:noFill/>
          </a:ln>
        </p:spPr>
        <p:txBody>
          <a:bodyPr/>
          <a:lstStyle>
            <a:lvl1pPr algn="l">
              <a:defRPr sz="2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3790206"/>
            <a:ext cx="6781800" cy="742950"/>
          </a:xfrm>
        </p:spPr>
        <p:txBody>
          <a:bodyPr/>
          <a:lstStyle>
            <a:lvl1pPr marL="0" indent="0" algn="l">
              <a:buFontTx/>
              <a:buNone/>
              <a:defRPr sz="1500">
                <a:solidFill>
                  <a:srgbClr val="000000"/>
                </a:solidFill>
              </a:defRPr>
            </a:lvl1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2555776" y="87474"/>
            <a:ext cx="6480720" cy="918102"/>
          </a:xfrm>
        </p:spPr>
        <p:txBody>
          <a:bodyPr anchor="ctr"/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8" name="Bild 11">
            <a:extLst>
              <a:ext uri="{FF2B5EF4-FFF2-40B4-BE49-F238E27FC236}">
                <a16:creationId xmlns:a16="http://schemas.microsoft.com/office/drawing/2014/main" id="{9C1F458D-B6C2-2545-A2B8-3916563221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3071" r="6507" b="15333"/>
          <a:stretch/>
        </p:blipFill>
        <p:spPr>
          <a:xfrm>
            <a:off x="0" y="-1"/>
            <a:ext cx="2555776" cy="105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58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166354C-AD6E-1543-98A7-99B8CCBDE93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95736" y="564561"/>
            <a:ext cx="6714008" cy="283369"/>
          </a:xfrm>
        </p:spPr>
        <p:txBody>
          <a:bodyPr anchor="b"/>
          <a:lstStyle>
            <a:lvl1pPr marL="0" indent="0" algn="r">
              <a:buNone/>
              <a:defRPr sz="135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398825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14400"/>
            <a:ext cx="8458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4981575"/>
            <a:ext cx="1714500" cy="16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0" hangingPunct="0">
              <a:defRPr sz="750">
                <a:latin typeface="Calibri"/>
                <a:ea typeface="+mn-ea"/>
                <a:cs typeface="Calibri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981575"/>
            <a:ext cx="2895600" cy="16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0" hangingPunct="0">
              <a:defRPr sz="750">
                <a:latin typeface="Calibri"/>
                <a:ea typeface="+mn-ea"/>
                <a:cs typeface="Calibri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1030" name="Line 16"/>
          <p:cNvSpPr>
            <a:spLocks noChangeShapeType="1"/>
          </p:cNvSpPr>
          <p:nvPr/>
        </p:nvSpPr>
        <p:spPr bwMode="auto">
          <a:xfrm>
            <a:off x="457200" y="857250"/>
            <a:ext cx="84582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de-DE" sz="1800" dirty="0">
              <a:latin typeface="Calibri"/>
            </a:endParaRPr>
          </a:p>
        </p:txBody>
      </p:sp>
      <p:sp>
        <p:nvSpPr>
          <p:cNvPr id="2055" name="Text Box 18"/>
          <p:cNvSpPr txBox="1">
            <a:spLocks noChangeArrowheads="1"/>
          </p:cNvSpPr>
          <p:nvPr/>
        </p:nvSpPr>
        <p:spPr bwMode="auto">
          <a:xfrm>
            <a:off x="457200" y="4935752"/>
            <a:ext cx="10668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fld id="{35BC59A6-664E-604E-A328-3911782993BB}" type="slidenum">
              <a:rPr lang="de-DE" sz="750" smtClean="0">
                <a:latin typeface="Calibri"/>
                <a:cs typeface="Calibri"/>
              </a:rPr>
              <a:pPr>
                <a:spcBef>
                  <a:spcPct val="50000"/>
                </a:spcBef>
                <a:defRPr/>
              </a:pPr>
              <a:t>‹Nr.›</a:t>
            </a:fld>
            <a:endParaRPr lang="de-DE" sz="750">
              <a:latin typeface="Calibri"/>
              <a:cs typeface="Calibri"/>
            </a:endParaRPr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0" y="857251"/>
            <a:ext cx="9144000" cy="0"/>
          </a:xfrm>
          <a:prstGeom prst="line">
            <a:avLst/>
          </a:prstGeom>
          <a:ln w="25400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4" r:id="rId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7B7B7B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500">
          <a:solidFill>
            <a:srgbClr val="7B7B7B"/>
          </a:solidFill>
          <a:latin typeface="Verdana" pitchFamily="-107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500">
          <a:solidFill>
            <a:srgbClr val="7B7B7B"/>
          </a:solidFill>
          <a:latin typeface="Verdana" pitchFamily="-107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500">
          <a:solidFill>
            <a:srgbClr val="7B7B7B"/>
          </a:solidFill>
          <a:latin typeface="Verdana" pitchFamily="-107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500">
          <a:solidFill>
            <a:srgbClr val="7B7B7B"/>
          </a:solidFill>
          <a:latin typeface="Verdana" pitchFamily="-107" charset="0"/>
          <a:ea typeface="ＭＳ Ｐゴシック" charset="0"/>
          <a:cs typeface="ＭＳ Ｐゴシック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1500">
          <a:solidFill>
            <a:schemeClr val="hlink"/>
          </a:solidFill>
          <a:latin typeface="Verdana" pitchFamily="-107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1500">
          <a:solidFill>
            <a:schemeClr val="hlink"/>
          </a:solidFill>
          <a:latin typeface="Verdana" pitchFamily="-107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1500">
          <a:solidFill>
            <a:schemeClr val="hlink"/>
          </a:solidFill>
          <a:latin typeface="Verdana" pitchFamily="-107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1500">
          <a:solidFill>
            <a:schemeClr val="hlink"/>
          </a:solidFill>
          <a:latin typeface="Verdana" pitchFamily="-107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20000"/>
        <a:buFont typeface="Wingdings" charset="2"/>
        <a:buChar char="§"/>
        <a:defRPr sz="1500">
          <a:solidFill>
            <a:schemeClr val="hlink"/>
          </a:solidFill>
          <a:latin typeface="+mn-lt"/>
          <a:ea typeface="ＭＳ Ｐゴシック" charset="0"/>
          <a:cs typeface="ＭＳ Ｐゴシック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  <a:ea typeface="ＭＳ Ｐゴシック" pitchFamily="-107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90000"/>
        <a:buChar char="•"/>
        <a:defRPr sz="1500">
          <a:solidFill>
            <a:schemeClr val="tx1"/>
          </a:solidFill>
          <a:latin typeface="+mn-lt"/>
          <a:ea typeface="ＭＳ Ｐゴシック" pitchFamily="-107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ＭＳ Ｐゴシック" pitchFamily="-107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ＭＳ Ｐゴシック" pitchFamily="-107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pitchFamily="-107" charset="-128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pitchFamily="-107" charset="-128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pitchFamily="-107" charset="-128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pitchFamily="-107" charset="-128"/>
        </a:defRPr>
      </a:lvl9pPr>
    </p:bodyStyle>
    <p:otherStyle>
      <a:defPPr>
        <a:defRPr lang="de-DE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Hinweise zum wissenschaftlichen Arbeiten im Rahmen von Seminaren, Studien- und Abschlussarbeiten</a:t>
            </a:r>
          </a:p>
        </p:txBody>
      </p:sp>
      <p:sp>
        <p:nvSpPr>
          <p:cNvPr id="5" name="Untertitel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Prof. Dr. Hannes Federrath</a:t>
            </a:r>
          </a:p>
          <a:p>
            <a:r>
              <a:rPr lang="de-DE" dirty="0"/>
              <a:t>Sicherheit in verteilten Systemen (SVS)</a:t>
            </a:r>
          </a:p>
          <a:p>
            <a:r>
              <a:rPr lang="de-DE" dirty="0"/>
              <a:t>http://svs.informatik.uni-hamburg.de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5E7F2823-9527-5942-860D-7739CFFE7A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21. Mai 2025</a:t>
            </a:r>
          </a:p>
        </p:txBody>
      </p:sp>
    </p:spTree>
    <p:extLst>
      <p:ext uri="{BB962C8B-B14F-4D97-AF65-F5344CB8AC3E}">
        <p14:creationId xmlns:p14="http://schemas.microsoft.com/office/powerpoint/2010/main" val="2991352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Fähigkeiten zum wissenschaftlichen Arbeiten</a:t>
            </a:r>
          </a:p>
          <a:p>
            <a:pPr lvl="1"/>
            <a:r>
              <a:rPr lang="de-DE" dirty="0"/>
              <a:t>erlernen bzw. verbessern</a:t>
            </a:r>
          </a:p>
          <a:p>
            <a:endParaRPr lang="de-DE" dirty="0"/>
          </a:p>
          <a:p>
            <a:r>
              <a:rPr lang="de-DE" dirty="0"/>
              <a:t>dazu gehören</a:t>
            </a:r>
          </a:p>
          <a:p>
            <a:pPr lvl="1"/>
            <a:r>
              <a:rPr lang="de-DE" dirty="0"/>
              <a:t>Recherche, Systematisierung, ggf. Konstruktion, Bewertung</a:t>
            </a:r>
          </a:p>
          <a:p>
            <a:pPr lvl="1"/>
            <a:r>
              <a:rPr lang="de-DE" dirty="0"/>
              <a:t>Aufbereitung der Ergebnisse und deren zielgruppenorientierte Präsentation</a:t>
            </a:r>
          </a:p>
          <a:p>
            <a:pPr lvl="1"/>
            <a:endParaRPr lang="de-DE" dirty="0"/>
          </a:p>
          <a:p>
            <a:r>
              <a:rPr lang="de-DE" dirty="0"/>
              <a:t>Aufbau: </a:t>
            </a:r>
          </a:p>
          <a:p>
            <a:pPr lvl="1"/>
            <a:r>
              <a:rPr lang="de-DE" dirty="0"/>
              <a:t>eigentlich wie überall: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E4AD0C7-2CEC-8E42-9C88-D8E2223A0DA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592192" y="3147814"/>
            <a:ext cx="2300288" cy="521494"/>
          </a:xfrm>
          <a:prstGeom prst="rect">
            <a:avLst/>
          </a:prstGeom>
          <a:noFill/>
          <a:ln w="9525">
            <a:solidFill>
              <a:srgbClr val="335787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de-DE" sz="1500" dirty="0">
                <a:solidFill>
                  <a:srgbClr val="335787"/>
                </a:solidFill>
                <a:latin typeface="Calibri"/>
              </a:rPr>
              <a:t>Einleitung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592192" y="3781226"/>
            <a:ext cx="2300288" cy="520303"/>
          </a:xfrm>
          <a:prstGeom prst="rect">
            <a:avLst/>
          </a:prstGeom>
          <a:noFill/>
          <a:ln w="9525">
            <a:solidFill>
              <a:srgbClr val="335787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de-DE" sz="1500" dirty="0">
                <a:solidFill>
                  <a:srgbClr val="335787"/>
                </a:solidFill>
                <a:latin typeface="Calibri"/>
              </a:rPr>
              <a:t>Hauptteil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6592192" y="4413448"/>
            <a:ext cx="2300288" cy="521494"/>
          </a:xfrm>
          <a:prstGeom prst="rect">
            <a:avLst/>
          </a:prstGeom>
          <a:noFill/>
          <a:ln w="9525">
            <a:solidFill>
              <a:srgbClr val="335787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de-DE" sz="1500" dirty="0">
                <a:solidFill>
                  <a:srgbClr val="335787"/>
                </a:solidFill>
                <a:latin typeface="Calibri"/>
              </a:rPr>
              <a:t>Schluss</a:t>
            </a:r>
          </a:p>
        </p:txBody>
      </p:sp>
    </p:spTree>
    <p:extLst>
      <p:ext uri="{BB962C8B-B14F-4D97-AF65-F5344CB8AC3E}">
        <p14:creationId xmlns:p14="http://schemas.microsoft.com/office/powerpoint/2010/main" val="1125573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Aufbau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Einleitung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Problemstellung</a:t>
            </a:r>
          </a:p>
          <a:p>
            <a:pPr lvl="1"/>
            <a:r>
              <a:rPr lang="de-DE" dirty="0"/>
              <a:t>Relevanz derselben</a:t>
            </a:r>
          </a:p>
          <a:p>
            <a:pPr lvl="1"/>
            <a:r>
              <a:rPr lang="de-DE" dirty="0"/>
              <a:t>verwendete Methoden</a:t>
            </a:r>
          </a:p>
          <a:p>
            <a:pPr lvl="1"/>
            <a:r>
              <a:rPr lang="de-DE" dirty="0"/>
              <a:t>ggf. Präliminarien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900FDAD0-39E5-0349-BD18-996E6127D0B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5094689-EAD2-BE40-8660-7FBC52392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192" y="3147814"/>
            <a:ext cx="2300288" cy="521494"/>
          </a:xfrm>
          <a:prstGeom prst="rect">
            <a:avLst/>
          </a:prstGeom>
          <a:solidFill>
            <a:schemeClr val="accent5"/>
          </a:solidFill>
          <a:ln w="9525">
            <a:solidFill>
              <a:srgbClr val="335787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de-DE" sz="1500" dirty="0">
                <a:solidFill>
                  <a:srgbClr val="335787"/>
                </a:solidFill>
                <a:latin typeface="Calibri"/>
              </a:rPr>
              <a:t>Einleitung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B5266CF-A32E-2F47-89B9-A3599E371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192" y="3781226"/>
            <a:ext cx="2300288" cy="520303"/>
          </a:xfrm>
          <a:prstGeom prst="rect">
            <a:avLst/>
          </a:prstGeom>
          <a:noFill/>
          <a:ln w="9525">
            <a:solidFill>
              <a:srgbClr val="335787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de-DE" sz="1500" dirty="0">
                <a:solidFill>
                  <a:srgbClr val="335787"/>
                </a:solidFill>
                <a:latin typeface="Calibri"/>
              </a:rPr>
              <a:t>Hauptteil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87CABF6-0442-1749-9E9B-D30619B76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192" y="4413448"/>
            <a:ext cx="2300288" cy="521494"/>
          </a:xfrm>
          <a:prstGeom prst="rect">
            <a:avLst/>
          </a:prstGeom>
          <a:noFill/>
          <a:ln w="9525">
            <a:solidFill>
              <a:srgbClr val="335787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de-DE" sz="1500" dirty="0">
                <a:solidFill>
                  <a:srgbClr val="335787"/>
                </a:solidFill>
                <a:latin typeface="Calibri"/>
              </a:rPr>
              <a:t>Schluss</a:t>
            </a:r>
          </a:p>
        </p:txBody>
      </p:sp>
    </p:spTree>
    <p:extLst>
      <p:ext uri="{BB962C8B-B14F-4D97-AF65-F5344CB8AC3E}">
        <p14:creationId xmlns:p14="http://schemas.microsoft.com/office/powerpoint/2010/main" val="1895990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755576" y="3003798"/>
            <a:ext cx="5256584" cy="108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endParaRPr lang="de-DE" sz="1800" dirty="0">
              <a:latin typeface="Calibri"/>
            </a:endParaRPr>
          </a:p>
        </p:txBody>
      </p:sp>
      <p:sp>
        <p:nvSpPr>
          <p:cNvPr id="21506" name="Rectangle 3"/>
          <p:cNvSpPr>
            <a:spLocks noChangeArrowheads="1"/>
          </p:cNvSpPr>
          <p:nvPr/>
        </p:nvSpPr>
        <p:spPr bwMode="auto">
          <a:xfrm>
            <a:off x="755576" y="1617644"/>
            <a:ext cx="5256584" cy="108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endParaRPr lang="de-DE" sz="1800" dirty="0">
              <a:latin typeface="Calibri"/>
            </a:endParaRPr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Aufbau</a:t>
            </a:r>
          </a:p>
        </p:txBody>
      </p:sp>
      <p:sp>
        <p:nvSpPr>
          <p:cNvPr id="21508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Hauptteil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darstellend:</a:t>
            </a:r>
          </a:p>
          <a:p>
            <a:pPr lvl="2"/>
            <a:r>
              <a:rPr lang="de-DE" dirty="0"/>
              <a:t>Stand der Wissenschaft</a:t>
            </a:r>
          </a:p>
          <a:p>
            <a:pPr lvl="2"/>
            <a:r>
              <a:rPr lang="de-DE" dirty="0"/>
              <a:t>evtl. Grundlagen legen (Grundverfahren beschreiben)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r>
              <a:rPr lang="de-DE" dirty="0"/>
              <a:t>konstruktiv:</a:t>
            </a:r>
          </a:p>
          <a:p>
            <a:pPr lvl="2"/>
            <a:r>
              <a:rPr lang="de-DE" dirty="0"/>
              <a:t>eigene Ideen beschreiben</a:t>
            </a:r>
          </a:p>
          <a:p>
            <a:pPr lvl="2"/>
            <a:r>
              <a:rPr lang="de-DE" dirty="0"/>
              <a:t>systematisch, klar und im Stil der Vorarbeiten anderer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0F63153-D536-4E45-A21C-B070C9C12B5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1E2964C-E320-0A4E-8CFA-96E5D0100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192" y="3147814"/>
            <a:ext cx="2300288" cy="521494"/>
          </a:xfrm>
          <a:prstGeom prst="rect">
            <a:avLst/>
          </a:prstGeom>
          <a:noFill/>
          <a:ln w="9525">
            <a:solidFill>
              <a:srgbClr val="335787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de-DE" sz="1500" dirty="0">
                <a:solidFill>
                  <a:srgbClr val="335787"/>
                </a:solidFill>
                <a:latin typeface="Calibri"/>
              </a:rPr>
              <a:t>Einleitung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98C55FC-25BA-4645-B64E-913E6E12A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192" y="3781226"/>
            <a:ext cx="2300288" cy="520303"/>
          </a:xfrm>
          <a:prstGeom prst="rect">
            <a:avLst/>
          </a:prstGeom>
          <a:solidFill>
            <a:schemeClr val="accent5"/>
          </a:solidFill>
          <a:ln w="9525">
            <a:solidFill>
              <a:srgbClr val="335787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de-DE" sz="1500" dirty="0">
                <a:solidFill>
                  <a:srgbClr val="335787"/>
                </a:solidFill>
                <a:latin typeface="Calibri"/>
              </a:rPr>
              <a:t>Hauptteil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88C14B75-2C34-7942-B52E-923ABD78F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192" y="4413448"/>
            <a:ext cx="2300288" cy="521494"/>
          </a:xfrm>
          <a:prstGeom prst="rect">
            <a:avLst/>
          </a:prstGeom>
          <a:noFill/>
          <a:ln w="9525">
            <a:solidFill>
              <a:srgbClr val="335787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de-DE" sz="1500" dirty="0">
                <a:solidFill>
                  <a:srgbClr val="335787"/>
                </a:solidFill>
                <a:latin typeface="Calibri"/>
              </a:rPr>
              <a:t>Schluss</a:t>
            </a:r>
          </a:p>
        </p:txBody>
      </p:sp>
    </p:spTree>
    <p:extLst>
      <p:ext uri="{BB962C8B-B14F-4D97-AF65-F5344CB8AC3E}">
        <p14:creationId xmlns:p14="http://schemas.microsoft.com/office/powerpoint/2010/main" val="3959367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Aufbau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Schluss</a:t>
            </a:r>
          </a:p>
          <a:p>
            <a:pPr lvl="1"/>
            <a:r>
              <a:rPr lang="de-DE" dirty="0"/>
              <a:t>knappe Zusammenfassung</a:t>
            </a:r>
          </a:p>
          <a:p>
            <a:pPr lvl="1"/>
            <a:r>
              <a:rPr lang="de-DE" dirty="0"/>
              <a:t>kritische Würdigung</a:t>
            </a:r>
          </a:p>
          <a:p>
            <a:pPr lvl="1"/>
            <a:r>
              <a:rPr lang="de-DE" dirty="0"/>
              <a:t>Horizonterweiterung</a:t>
            </a:r>
          </a:p>
          <a:p>
            <a:pPr lvl="1"/>
            <a:r>
              <a:rPr lang="de-DE" dirty="0"/>
              <a:t>Ausblick auf weitere Fragestellungen, die interessant sein könnten</a:t>
            </a:r>
          </a:p>
          <a:p>
            <a:endParaRPr lang="de-DE" dirty="0"/>
          </a:p>
          <a:p>
            <a:r>
              <a:rPr lang="de-DE" dirty="0"/>
              <a:t>Literaturverzeichnis </a:t>
            </a:r>
          </a:p>
          <a:p>
            <a:pPr lvl="1"/>
            <a:r>
              <a:rPr lang="de-DE" dirty="0"/>
              <a:t>auf jeden Fall in der Ausarbeitung</a:t>
            </a:r>
          </a:p>
          <a:p>
            <a:pPr lvl="1"/>
            <a:r>
              <a:rPr lang="de-DE" dirty="0"/>
              <a:t>nicht zwingend in der Präsentation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D03F477-B503-BB4F-80ED-46E6BA72AAB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0E0477F-EF2F-DA41-BEEE-B8ADA5784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192" y="3147814"/>
            <a:ext cx="2300288" cy="521494"/>
          </a:xfrm>
          <a:prstGeom prst="rect">
            <a:avLst/>
          </a:prstGeom>
          <a:noFill/>
          <a:ln w="9525">
            <a:solidFill>
              <a:srgbClr val="335787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de-DE" sz="1500" dirty="0">
                <a:solidFill>
                  <a:srgbClr val="335787"/>
                </a:solidFill>
                <a:latin typeface="Calibri"/>
              </a:rPr>
              <a:t>Einleitung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6C03538-9565-9C40-9961-CE086830F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192" y="3781226"/>
            <a:ext cx="2300288" cy="520303"/>
          </a:xfrm>
          <a:prstGeom prst="rect">
            <a:avLst/>
          </a:prstGeom>
          <a:noFill/>
          <a:ln w="9525">
            <a:solidFill>
              <a:srgbClr val="335787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de-DE" sz="1500" dirty="0">
                <a:solidFill>
                  <a:srgbClr val="335787"/>
                </a:solidFill>
                <a:latin typeface="Calibri"/>
              </a:rPr>
              <a:t>Hauptteil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71D06E5-7B4B-AD48-B545-DB3E3B9B7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192" y="4413448"/>
            <a:ext cx="2300288" cy="521494"/>
          </a:xfrm>
          <a:prstGeom prst="rect">
            <a:avLst/>
          </a:prstGeom>
          <a:solidFill>
            <a:schemeClr val="accent5"/>
          </a:solidFill>
          <a:ln w="9525">
            <a:solidFill>
              <a:srgbClr val="335787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de-DE" sz="1500" dirty="0">
                <a:solidFill>
                  <a:srgbClr val="335787"/>
                </a:solidFill>
                <a:latin typeface="Calibri"/>
              </a:rPr>
              <a:t>Schluss</a:t>
            </a:r>
          </a:p>
        </p:txBody>
      </p:sp>
    </p:spTree>
    <p:extLst>
      <p:ext uri="{BB962C8B-B14F-4D97-AF65-F5344CB8AC3E}">
        <p14:creationId xmlns:p14="http://schemas.microsoft.com/office/powerpoint/2010/main" val="192661377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1" name="Rectangle 15"/>
          <p:cNvSpPr>
            <a:spLocks noChangeArrowheads="1"/>
          </p:cNvSpPr>
          <p:nvPr/>
        </p:nvSpPr>
        <p:spPr bwMode="auto">
          <a:xfrm>
            <a:off x="609600" y="3760679"/>
            <a:ext cx="5402560" cy="880973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de-DE" sz="1800" dirty="0">
              <a:latin typeface="Calibri"/>
            </a:endParaRPr>
          </a:p>
        </p:txBody>
      </p:sp>
      <p:sp>
        <p:nvSpPr>
          <p:cNvPr id="2560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Literaturarbeit</a:t>
            </a:r>
          </a:p>
        </p:txBody>
      </p:sp>
      <p:sp>
        <p:nvSpPr>
          <p:cNvPr id="25603" name="Rectangle 7"/>
          <p:cNvSpPr>
            <a:spLocks noGrp="1" noChangeArrowheads="1"/>
          </p:cNvSpPr>
          <p:nvPr>
            <p:ph idx="1"/>
          </p:nvPr>
        </p:nvSpPr>
        <p:spPr>
          <a:xfrm>
            <a:off x="1674789" y="1382822"/>
            <a:ext cx="7240611" cy="3646378"/>
          </a:xfrm>
        </p:spPr>
        <p:txBody>
          <a:bodyPr/>
          <a:lstStyle/>
          <a:p>
            <a:r>
              <a:rPr lang="de-DE" dirty="0"/>
              <a:t>Fachbücher, Standards</a:t>
            </a:r>
          </a:p>
          <a:p>
            <a:r>
              <a:rPr lang="de-DE" dirty="0"/>
              <a:t>Wiss. Zeitschriftenartikel, Survey-Artikel</a:t>
            </a:r>
          </a:p>
          <a:p>
            <a:r>
              <a:rPr lang="de-DE" dirty="0"/>
              <a:t>Konferenzbeiträge</a:t>
            </a:r>
          </a:p>
          <a:p>
            <a:r>
              <a:rPr lang="de-DE" dirty="0"/>
              <a:t>Technical Reports, graue Literatur</a:t>
            </a:r>
          </a:p>
          <a:p>
            <a:r>
              <a:rPr lang="de-DE" dirty="0"/>
              <a:t>Online-Material, Arbeitspapiere, Firmenmaterial</a:t>
            </a:r>
          </a:p>
          <a:p>
            <a:r>
              <a:rPr lang="de-DE" dirty="0"/>
              <a:t>Ausarbeitungen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D8A17DD-40C7-9B4E-8BC1-67A91F18E9E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5604" name="Freeform 9"/>
          <p:cNvSpPr>
            <a:spLocks/>
          </p:cNvSpPr>
          <p:nvPr/>
        </p:nvSpPr>
        <p:spPr bwMode="auto">
          <a:xfrm>
            <a:off x="862707" y="1419622"/>
            <a:ext cx="457200" cy="1746194"/>
          </a:xfrm>
          <a:custGeom>
            <a:avLst/>
            <a:gdLst>
              <a:gd name="T0" fmla="*/ 0 w 384"/>
              <a:gd name="T1" fmla="*/ 0 h 1776"/>
              <a:gd name="T2" fmla="*/ 2147483647 w 384"/>
              <a:gd name="T3" fmla="*/ 0 h 1776"/>
              <a:gd name="T4" fmla="*/ 2147483647 w 384"/>
              <a:gd name="T5" fmla="*/ 2147483647 h 1776"/>
              <a:gd name="T6" fmla="*/ 0 w 384"/>
              <a:gd name="T7" fmla="*/ 0 h 177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84" h="1776">
                <a:moveTo>
                  <a:pt x="0" y="0"/>
                </a:moveTo>
                <a:lnTo>
                  <a:pt x="384" y="0"/>
                </a:lnTo>
                <a:lnTo>
                  <a:pt x="192" y="177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de-DE" sz="1800" dirty="0">
              <a:latin typeface="Calibri"/>
            </a:endParaRPr>
          </a:p>
        </p:txBody>
      </p:sp>
      <p:sp>
        <p:nvSpPr>
          <p:cNvPr id="25605" name="Text Box 10"/>
          <p:cNvSpPr txBox="1">
            <a:spLocks noChangeArrowheads="1"/>
          </p:cNvSpPr>
          <p:nvPr/>
        </p:nvSpPr>
        <p:spPr bwMode="auto">
          <a:xfrm>
            <a:off x="691257" y="1059657"/>
            <a:ext cx="81208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-DE" sz="1500" dirty="0">
                <a:latin typeface="Calibri"/>
              </a:rPr>
              <a:t>Qualität</a:t>
            </a:r>
          </a:p>
        </p:txBody>
      </p:sp>
      <p:sp>
        <p:nvSpPr>
          <p:cNvPr id="25606" name="Rectangle 11"/>
          <p:cNvSpPr>
            <a:spLocks noChangeArrowheads="1"/>
          </p:cNvSpPr>
          <p:nvPr/>
        </p:nvSpPr>
        <p:spPr bwMode="auto">
          <a:xfrm>
            <a:off x="696714" y="3327834"/>
            <a:ext cx="5042919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de-DE" sz="1500" dirty="0">
                <a:solidFill>
                  <a:srgbClr val="000000"/>
                </a:solidFill>
                <a:latin typeface="Calibri"/>
              </a:rPr>
              <a:t>Anlaufstellen für gute Online-Recherchen:</a:t>
            </a:r>
          </a:p>
          <a:p>
            <a:endParaRPr lang="de-DE" sz="1500" dirty="0">
              <a:solidFill>
                <a:srgbClr val="000000"/>
              </a:solidFill>
              <a:latin typeface="Calibri"/>
            </a:endParaRPr>
          </a:p>
          <a:p>
            <a:r>
              <a:rPr lang="de-DE" sz="1500" dirty="0">
                <a:solidFill>
                  <a:srgbClr val="000000"/>
                </a:solidFill>
                <a:latin typeface="Calibri"/>
              </a:rPr>
              <a:t>Google Scholar (http://scholar.google.com)</a:t>
            </a:r>
          </a:p>
          <a:p>
            <a:r>
              <a:rPr lang="de-DE" sz="1500" dirty="0">
                <a:solidFill>
                  <a:srgbClr val="000000"/>
                </a:solidFill>
                <a:latin typeface="Calibri"/>
              </a:rPr>
              <a:t>Computer Science </a:t>
            </a:r>
            <a:r>
              <a:rPr lang="de-DE" sz="1500" dirty="0" err="1">
                <a:solidFill>
                  <a:srgbClr val="000000"/>
                </a:solidFill>
                <a:latin typeface="Calibri"/>
              </a:rPr>
              <a:t>Bibliography</a:t>
            </a:r>
            <a:r>
              <a:rPr lang="de-DE" sz="1500" dirty="0">
                <a:solidFill>
                  <a:srgbClr val="000000"/>
                </a:solidFill>
                <a:latin typeface="Calibri"/>
              </a:rPr>
              <a:t> (http://</a:t>
            </a:r>
            <a:r>
              <a:rPr lang="de-DE" sz="1500" dirty="0" err="1">
                <a:solidFill>
                  <a:srgbClr val="000000"/>
                </a:solidFill>
                <a:latin typeface="Calibri"/>
              </a:rPr>
              <a:t>dblp.uni</a:t>
            </a:r>
            <a:r>
              <a:rPr lang="de-DE" sz="1500" dirty="0">
                <a:solidFill>
                  <a:srgbClr val="000000"/>
                </a:solidFill>
                <a:latin typeface="Calibri"/>
              </a:rPr>
              <a:t>- </a:t>
            </a:r>
            <a:r>
              <a:rPr lang="de-DE" sz="1500" dirty="0" err="1">
                <a:solidFill>
                  <a:srgbClr val="000000"/>
                </a:solidFill>
                <a:latin typeface="Calibri"/>
              </a:rPr>
              <a:t>trier.de</a:t>
            </a:r>
            <a:r>
              <a:rPr lang="de-DE" sz="1500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r>
              <a:rPr lang="de-DE" sz="1500" dirty="0">
                <a:solidFill>
                  <a:srgbClr val="000000"/>
                </a:solidFill>
                <a:latin typeface="Calibri"/>
              </a:rPr>
              <a:t>Scientific </a:t>
            </a:r>
            <a:r>
              <a:rPr lang="de-DE" sz="1500" dirty="0" err="1">
                <a:solidFill>
                  <a:srgbClr val="000000"/>
                </a:solidFill>
                <a:latin typeface="Calibri"/>
              </a:rPr>
              <a:t>Literature</a:t>
            </a:r>
            <a:r>
              <a:rPr lang="de-DE" sz="1500" dirty="0">
                <a:solidFill>
                  <a:srgbClr val="000000"/>
                </a:solidFill>
                <a:latin typeface="Calibri"/>
              </a:rPr>
              <a:t> Digital Library (http://</a:t>
            </a:r>
            <a:r>
              <a:rPr lang="de-DE" sz="1500" dirty="0" err="1">
                <a:solidFill>
                  <a:srgbClr val="000000"/>
                </a:solidFill>
                <a:latin typeface="Calibri"/>
              </a:rPr>
              <a:t>citeseer.nj.nec.com</a:t>
            </a:r>
            <a:r>
              <a:rPr lang="de-DE" sz="1500" dirty="0">
                <a:solidFill>
                  <a:srgbClr val="000000"/>
                </a:solidFill>
                <a:latin typeface="Calibri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21277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Kontrollfragen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60"/>
              </a:spcBef>
            </a:pPr>
            <a:endParaRPr lang="de-DE" dirty="0"/>
          </a:p>
          <a:p>
            <a:pPr>
              <a:spcBef>
                <a:spcPts val="1260"/>
              </a:spcBef>
            </a:pPr>
            <a:r>
              <a:rPr lang="de-DE" dirty="0"/>
              <a:t>Wurde die Fragestellung auf hohem Niveau bearbeitet?</a:t>
            </a:r>
          </a:p>
          <a:p>
            <a:pPr>
              <a:spcBef>
                <a:spcPts val="1260"/>
              </a:spcBef>
            </a:pPr>
            <a:r>
              <a:rPr lang="de-DE" dirty="0"/>
              <a:t>Handelt es sich um eine kreative Herangehensweise bzw. Lösung?</a:t>
            </a:r>
          </a:p>
          <a:p>
            <a:pPr>
              <a:spcBef>
                <a:spcPts val="1260"/>
              </a:spcBef>
            </a:pPr>
            <a:r>
              <a:rPr lang="de-DE" dirty="0"/>
              <a:t>Sind die Annahmen und getroffenen Voraussetzungen realistisch, oder wurden unzulässige Vereinfachungen vorgenommen?</a:t>
            </a:r>
          </a:p>
          <a:p>
            <a:pPr>
              <a:spcBef>
                <a:spcPts val="1260"/>
              </a:spcBef>
            </a:pPr>
            <a:r>
              <a:rPr lang="de-DE" dirty="0"/>
              <a:t>Sind alle Aussagen klar und verständlich formuliert und möglichst prägnant?</a:t>
            </a:r>
          </a:p>
          <a:p>
            <a:pPr>
              <a:spcBef>
                <a:spcPts val="1260"/>
              </a:spcBef>
            </a:pPr>
            <a:r>
              <a:rPr lang="de-DE" dirty="0"/>
              <a:t>Wurde die Literatur zur Kenntnis genommen?</a:t>
            </a:r>
          </a:p>
          <a:p>
            <a:pPr>
              <a:spcBef>
                <a:spcPts val="1260"/>
              </a:spcBef>
            </a:pPr>
            <a:r>
              <a:rPr lang="de-DE" dirty="0"/>
              <a:t>Ist die äußere Form angebracht (Layout, Rechtschreibung, Grammatik)?</a:t>
            </a:r>
          </a:p>
          <a:p>
            <a:pPr>
              <a:spcBef>
                <a:spcPts val="1260"/>
              </a:spcBef>
            </a:pPr>
            <a:r>
              <a:rPr lang="de-DE" dirty="0"/>
              <a:t>Ist der Umfang angemessen?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3A7F3BC-ABE8-5043-AA9D-45353F182A7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109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323528" y="2432298"/>
            <a:ext cx="6172200" cy="571500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de-DE" sz="1800" dirty="0">
              <a:latin typeface="Calibri"/>
            </a:endParaRP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Präsentation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4-8 Stichpunkte pro Folie, kein Fließtext</a:t>
            </a:r>
          </a:p>
          <a:p>
            <a:r>
              <a:rPr lang="de-DE" dirty="0"/>
              <a:t>Abbildungen, wo angebracht</a:t>
            </a:r>
          </a:p>
          <a:p>
            <a:r>
              <a:rPr lang="de-DE" dirty="0"/>
              <a:t>nur wenig Farben, wenige Einblendeffekte</a:t>
            </a:r>
          </a:p>
          <a:p>
            <a:r>
              <a:rPr lang="de-DE" dirty="0"/>
              <a:t>keinen Schnickschnack</a:t>
            </a:r>
          </a:p>
          <a:p>
            <a:endParaRPr lang="de-DE" dirty="0"/>
          </a:p>
          <a:p>
            <a:r>
              <a:rPr lang="de-DE" dirty="0"/>
              <a:t>Folienzahl = Vortragszeit / 3 Minuten</a:t>
            </a:r>
          </a:p>
          <a:p>
            <a:endParaRPr lang="de-DE" dirty="0"/>
          </a:p>
          <a:p>
            <a:r>
              <a:rPr lang="de-DE" dirty="0"/>
              <a:t>Beim Vortrag</a:t>
            </a:r>
          </a:p>
          <a:p>
            <a:pPr lvl="1"/>
            <a:r>
              <a:rPr lang="de-DE" dirty="0"/>
              <a:t>in das Auditorium schauen</a:t>
            </a:r>
          </a:p>
          <a:p>
            <a:pPr lvl="1"/>
            <a:r>
              <a:rPr lang="de-DE" dirty="0"/>
              <a:t>zeigen</a:t>
            </a:r>
          </a:p>
          <a:p>
            <a:pPr lvl="1"/>
            <a:r>
              <a:rPr lang="de-DE" dirty="0"/>
              <a:t>frei sprechen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9C58ABB-5905-4947-B589-16A61AD2DD7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556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323528" y="2432298"/>
            <a:ext cx="6172200" cy="571500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de-DE" sz="1800" dirty="0">
              <a:latin typeface="Calibri"/>
            </a:endParaRPr>
          </a:p>
        </p:txBody>
      </p:sp>
      <p:sp>
        <p:nvSpPr>
          <p:cNvPr id="22532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458200" cy="4114800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4-8 Stichpunkte pro Folie, kein Fließtext</a:t>
            </a:r>
          </a:p>
          <a:p>
            <a:r>
              <a:rPr lang="de-DE" dirty="0"/>
              <a:t>Abbildungen, wo angebracht</a:t>
            </a:r>
          </a:p>
          <a:p>
            <a:r>
              <a:rPr lang="de-DE" dirty="0"/>
              <a:t>nur wenig Farben, wenige Einblendeffekte</a:t>
            </a:r>
          </a:p>
          <a:p>
            <a:r>
              <a:rPr lang="de-DE" dirty="0"/>
              <a:t>keinen Schnickschnack</a:t>
            </a:r>
          </a:p>
          <a:p>
            <a:endParaRPr lang="de-DE" dirty="0"/>
          </a:p>
          <a:p>
            <a:r>
              <a:rPr lang="de-DE" dirty="0"/>
              <a:t>Folienzahl = Vortragszeit / 3 Minuten</a:t>
            </a:r>
          </a:p>
          <a:p>
            <a:endParaRPr lang="de-DE" dirty="0"/>
          </a:p>
          <a:p>
            <a:r>
              <a:rPr lang="de-DE" dirty="0"/>
              <a:t>Beim Vortrag</a:t>
            </a:r>
          </a:p>
          <a:p>
            <a:pPr lvl="1"/>
            <a:r>
              <a:rPr lang="de-DE" dirty="0"/>
              <a:t>in das Auditorium schauen</a:t>
            </a:r>
          </a:p>
          <a:p>
            <a:pPr lvl="1"/>
            <a:r>
              <a:rPr lang="de-DE" dirty="0"/>
              <a:t>zeigen</a:t>
            </a:r>
          </a:p>
          <a:p>
            <a:pPr lvl="1"/>
            <a:r>
              <a:rPr lang="de-DE" dirty="0"/>
              <a:t>frei sprechen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Präsentation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B2AC6D5-44D4-384A-9BEE-780CDB85104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5760132" y="4029912"/>
            <a:ext cx="3149612" cy="571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 anchor="ctr"/>
          <a:lstStyle/>
          <a:p>
            <a:pPr algn="ctr">
              <a:defRPr/>
            </a:pPr>
            <a:r>
              <a:rPr lang="de-DE" sz="1500" dirty="0">
                <a:solidFill>
                  <a:schemeClr val="tx2"/>
                </a:solidFill>
                <a:latin typeface="Calibri"/>
              </a:rPr>
              <a:t>Bitte nur wenige Einblendeffekte! </a:t>
            </a:r>
            <a:br>
              <a:rPr lang="de-DE" sz="1500" dirty="0">
                <a:solidFill>
                  <a:schemeClr val="tx2"/>
                </a:solidFill>
                <a:latin typeface="Calibri"/>
              </a:rPr>
            </a:br>
            <a:r>
              <a:rPr lang="de-DE" sz="1500" dirty="0">
                <a:solidFill>
                  <a:schemeClr val="tx2"/>
                </a:solidFill>
                <a:latin typeface="Calibri"/>
              </a:rPr>
              <a:t>So eher nicht!</a:t>
            </a:r>
          </a:p>
        </p:txBody>
      </p:sp>
    </p:spTree>
    <p:extLst>
      <p:ext uri="{BB962C8B-B14F-4D97-AF65-F5344CB8AC3E}">
        <p14:creationId xmlns:p14="http://schemas.microsoft.com/office/powerpoint/2010/main" val="4056026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5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5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5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Zischen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nimBg="1"/>
      <p:bldP spid="22532" grpId="0" build="p" autoUpdateAnimBg="0"/>
      <p:bldP spid="2253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2C6559-1720-C24A-A2CC-EFA85F8212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Wir freuen uns auf Ihre Ausarbeitungen </a:t>
            </a:r>
            <a:br>
              <a:rPr lang="de-DE" dirty="0"/>
            </a:br>
            <a:r>
              <a:rPr lang="de-DE" dirty="0"/>
              <a:t>und Vorträge!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788A779-ED69-5B4C-97E9-978C1D8667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C48B012-0F35-414E-A3B5-15CA4DD6CA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623607"/>
      </p:ext>
    </p:extLst>
  </p:cSld>
  <p:clrMapOvr>
    <a:masterClrMapping/>
  </p:clrMapOvr>
</p:sld>
</file>

<file path=ppt/theme/theme1.xml><?xml version="1.0" encoding="utf-8"?>
<a:theme xmlns:a="http://schemas.openxmlformats.org/drawingml/2006/main" name="9999 TemplateSVSnurHF">
  <a:themeElements>
    <a:clrScheme name="Benutzerdefiniert 1">
      <a:dk1>
        <a:srgbClr val="000000"/>
      </a:dk1>
      <a:lt1>
        <a:srgbClr val="FFFFFF"/>
      </a:lt1>
      <a:dk2>
        <a:srgbClr val="335787"/>
      </a:dk2>
      <a:lt2>
        <a:srgbClr val="B3B3B3"/>
      </a:lt2>
      <a:accent1>
        <a:srgbClr val="99CCFF"/>
      </a:accent1>
      <a:accent2>
        <a:srgbClr val="C1222A"/>
      </a:accent2>
      <a:accent3>
        <a:srgbClr val="FFFFFF"/>
      </a:accent3>
      <a:accent4>
        <a:srgbClr val="000000"/>
      </a:accent4>
      <a:accent5>
        <a:srgbClr val="CAE2FF"/>
      </a:accent5>
      <a:accent6>
        <a:srgbClr val="C1222A"/>
      </a:accent6>
      <a:hlink>
        <a:srgbClr val="335787"/>
      </a:hlink>
      <a:folHlink>
        <a:srgbClr val="33578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7" charset="0"/>
            <a:ea typeface="ＭＳ Ｐゴシック" pitchFamily="-107" charset="-128"/>
            <a:cs typeface="ＭＳ Ｐゴシック" pitchFamily="-107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7" charset="0"/>
            <a:ea typeface="ＭＳ Ｐゴシック" pitchFamily="-107" charset="-128"/>
            <a:cs typeface="ＭＳ Ｐゴシック" pitchFamily="-107" charset="-128"/>
          </a:defRPr>
        </a:defPPr>
      </a:lstStyle>
    </a:lnDef>
  </a:objectDefaults>
  <a:extraClrSchemeLst>
    <a:extraClrScheme>
      <a:clrScheme name="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9999 TemplateSVSnurHF.potx</Template>
  <TotalTime>0</TotalTime>
  <Words>379</Words>
  <Application>Microsoft Macintosh PowerPoint</Application>
  <PresentationFormat>Bildschirmpräsentation (16:9)</PresentationFormat>
  <Paragraphs>113</Paragraphs>
  <Slides>10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Andale Mono</vt:lpstr>
      <vt:lpstr>Calibri</vt:lpstr>
      <vt:lpstr>Verdana</vt:lpstr>
      <vt:lpstr>Wingdings</vt:lpstr>
      <vt:lpstr>9999 TemplateSVSnurHF</vt:lpstr>
      <vt:lpstr>Hinweise zum wissenschaftlichen Arbeiten im Rahmen von Seminaren, Studien- und Abschlussarbeiten</vt:lpstr>
      <vt:lpstr>Ziel</vt:lpstr>
      <vt:lpstr>Aufbau</vt:lpstr>
      <vt:lpstr>Aufbau</vt:lpstr>
      <vt:lpstr>Aufbau</vt:lpstr>
      <vt:lpstr>Literaturarbeit</vt:lpstr>
      <vt:lpstr>Kontrollfragen</vt:lpstr>
      <vt:lpstr>Präsentation</vt:lpstr>
      <vt:lpstr>Präsentation</vt:lpstr>
      <vt:lpstr>Wir freuen uns auf Ihre Ausarbeitungen  und Vorträge!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für Folien (nur HF)</dc:title>
  <dc:subject/>
  <dc:creator>wichmannpas</dc:creator>
  <cp:keywords/>
  <dc:description/>
  <cp:lastModifiedBy>Hannes Federrath</cp:lastModifiedBy>
  <cp:revision>1198</cp:revision>
  <cp:lastPrinted>2018-05-18T14:44:35Z</cp:lastPrinted>
  <dcterms:created xsi:type="dcterms:W3CDTF">2009-11-03T08:05:18Z</dcterms:created>
  <dcterms:modified xsi:type="dcterms:W3CDTF">2025-05-21T06:38:46Z</dcterms:modified>
  <cp:category/>
</cp:coreProperties>
</file>