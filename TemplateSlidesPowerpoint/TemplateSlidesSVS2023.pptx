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61" r:id="rId4"/>
    <p:sldId id="262" r:id="rId5"/>
    <p:sldId id="263" r:id="rId6"/>
    <p:sldId id="259" r:id="rId7"/>
    <p:sldId id="264" r:id="rId8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769" autoAdjust="0"/>
    <p:restoredTop sz="94694" autoAdjust="0"/>
  </p:normalViewPr>
  <p:slideViewPr>
    <p:cSldViewPr snapToGrid="0" snapToObjects="1">
      <p:cViewPr varScale="1">
        <p:scale>
          <a:sx n="156" d="100"/>
          <a:sy n="156" d="100"/>
        </p:scale>
        <p:origin x="304" y="168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10/12/23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3191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9000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5">
            <a:extLst>
              <a:ext uri="{FF2B5EF4-FFF2-40B4-BE49-F238E27FC236}">
                <a16:creationId xmlns:a16="http://schemas.microsoft.com/office/drawing/2014/main" id="{49DD2F0B-A9C6-A726-200C-FA7E2DA239A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1059582"/>
            <a:ext cx="9144000" cy="4083918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/>
          <a:lstStyle/>
          <a:p>
            <a:pPr algn="ctr" eaLnBrk="0" hangingPunct="0"/>
            <a:endParaRPr lang="de-DE" sz="1350" dirty="0">
              <a:latin typeface="Calibri"/>
            </a:endParaRPr>
          </a:p>
        </p:txBody>
      </p:sp>
      <p:pic>
        <p:nvPicPr>
          <p:cNvPr id="9" name="Bild 11">
            <a:extLst>
              <a:ext uri="{FF2B5EF4-FFF2-40B4-BE49-F238E27FC236}">
                <a16:creationId xmlns:a16="http://schemas.microsoft.com/office/drawing/2014/main" id="{DB7958CC-099E-2A28-4092-F633058A37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3071" r="6507" b="15333"/>
          <a:stretch/>
        </p:blipFill>
        <p:spPr>
          <a:xfrm>
            <a:off x="0" y="-1"/>
            <a:ext cx="2555776" cy="1059581"/>
          </a:xfrm>
          <a:prstGeom prst="rect">
            <a:avLst/>
          </a:prstGeom>
        </p:spPr>
      </p:pic>
      <p:sp>
        <p:nvSpPr>
          <p:cNvPr id="7" name="Textplatzhalter 2">
            <a:extLst>
              <a:ext uri="{FF2B5EF4-FFF2-40B4-BE49-F238E27FC236}">
                <a16:creationId xmlns:a16="http://schemas.microsoft.com/office/drawing/2014/main" id="{581169DE-CFC5-D5C3-030A-42249F00E7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5776" y="87474"/>
            <a:ext cx="6480720" cy="918102"/>
          </a:xfrm>
          <a:prstGeom prst="rect">
            <a:avLst/>
          </a:prstGeom>
        </p:spPr>
        <p:txBody>
          <a:bodyPr anchor="ctr"/>
          <a:lstStyle>
            <a:lvl1pPr marL="0" indent="0" algn="r"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5" name="Rectangle 2">
            <a:extLst>
              <a:ext uri="{FF2B5EF4-FFF2-40B4-BE49-F238E27FC236}">
                <a16:creationId xmlns:a16="http://schemas.microsoft.com/office/drawing/2014/main" id="{4261C7F7-9097-300B-262E-22156D6B2BA5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362200" y="2304306"/>
            <a:ext cx="6781800" cy="800100"/>
          </a:xfrm>
          <a:prstGeom prst="rect">
            <a:avLst/>
          </a:prstGeom>
          <a:ln>
            <a:noFill/>
          </a:ln>
        </p:spPr>
        <p:txBody>
          <a:bodyPr anchor="b"/>
          <a:lstStyle>
            <a:lvl1pPr algn="l">
              <a:defRPr sz="2100">
                <a:solidFill>
                  <a:schemeClr val="tx1"/>
                </a:solidFill>
              </a:defRPr>
            </a:lvl1pPr>
          </a:lstStyle>
          <a:p>
            <a:r>
              <a:rPr lang="de-DE" noProof="0"/>
              <a:t>Mastertitelformat bearbeiten</a:t>
            </a:r>
          </a:p>
        </p:txBody>
      </p:sp>
      <p:sp>
        <p:nvSpPr>
          <p:cNvPr id="16" name="Rectangle 3">
            <a:extLst>
              <a:ext uri="{FF2B5EF4-FFF2-40B4-BE49-F238E27FC236}">
                <a16:creationId xmlns:a16="http://schemas.microsoft.com/office/drawing/2014/main" id="{59A97546-537B-B6BE-2662-22CF5E946EF6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362200" y="3395207"/>
            <a:ext cx="6781800" cy="1137949"/>
          </a:xfrm>
          <a:prstGeom prst="rect">
            <a:avLst/>
          </a:prstGeom>
        </p:spPr>
        <p:txBody>
          <a:bodyPr anchor="b"/>
          <a:lstStyle>
            <a:lvl1pPr marL="0" indent="0" algn="l">
              <a:buFontTx/>
              <a:buNone/>
              <a:defRPr sz="1500">
                <a:solidFill>
                  <a:srgbClr val="000000"/>
                </a:solidFill>
              </a:defRPr>
            </a:lvl1pPr>
          </a:lstStyle>
          <a:p>
            <a:r>
              <a:rPr lang="de-DE" noProof="0"/>
              <a:t>Master-Untertitelformat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Inhaltsplatzhalter 11">
            <a:extLst>
              <a:ext uri="{FF2B5EF4-FFF2-40B4-BE49-F238E27FC236}">
                <a16:creationId xmlns:a16="http://schemas.microsoft.com/office/drawing/2014/main" id="{B50D7558-0277-B566-1639-C35719A3BFB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7200" y="914400"/>
            <a:ext cx="8458200" cy="4114800"/>
          </a:xfrm>
        </p:spPr>
        <p:txBody>
          <a:bodyPr/>
          <a:lstStyle/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560FF0-08EB-B743-9A2A-F5F52125B889}" type="datetime1">
              <a:rPr lang="de-DE" smtClean="0"/>
              <a:t>12.10.23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964523"/>
            <a:ext cx="2895600" cy="1728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57200" y="4975323"/>
            <a:ext cx="2133600" cy="162000"/>
          </a:xfrm>
        </p:spPr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3F0FD5E3-F545-0298-9271-AD6BB0887C7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87474"/>
            <a:ext cx="8458200" cy="769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de-DE" noProof="0"/>
              <a:t>Mastertitelformat bearbeiten</a:t>
            </a:r>
          </a:p>
        </p:txBody>
      </p:sp>
      <p:sp>
        <p:nvSpPr>
          <p:cNvPr id="14" name="Inhaltsplatzhalter 6">
            <a:extLst>
              <a:ext uri="{FF2B5EF4-FFF2-40B4-BE49-F238E27FC236}">
                <a16:creationId xmlns:a16="http://schemas.microsoft.com/office/drawing/2014/main" id="{3C176131-CF8D-30B4-EC60-3AD0BF6DD5F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2195736" y="564561"/>
            <a:ext cx="6714008" cy="283369"/>
          </a:xfrm>
        </p:spPr>
        <p:txBody>
          <a:bodyPr anchor="b"/>
          <a:lstStyle>
            <a:lvl1pPr marL="0" indent="0" algn="r">
              <a:buNone/>
              <a:defRPr sz="1350"/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de-DE" dirty="0"/>
              <a:t>Formatvorlagen des Textmasters bearbeiten</a:t>
            </a:r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362200" y="3155206"/>
            <a:ext cx="6781800" cy="59129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9D931-1A6D-F948-8726-124DADEE51A2}" type="datetime1">
              <a:rPr lang="de-DE" smtClean="0"/>
              <a:t>12.10.23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964523"/>
            <a:ext cx="2895600" cy="1728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57200" y="4975323"/>
            <a:ext cx="2133600" cy="162000"/>
          </a:xfrm>
        </p:spPr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830C8BBD-2FA8-092E-1A14-06365FFAFEF5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362200" y="2304306"/>
            <a:ext cx="6781800" cy="800100"/>
          </a:xfrm>
          <a:ln>
            <a:noFill/>
          </a:ln>
        </p:spPr>
        <p:txBody>
          <a:bodyPr/>
          <a:lstStyle>
            <a:lvl1pPr algn="l">
              <a:defRPr sz="210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36055A32-295A-914F-EE8A-CFAE2D8ACD51}"/>
              </a:ext>
            </a:extLst>
          </p:cNvPr>
          <p:cNvSpPr>
            <a:spLocks noGrp="1" noChangeArrowheads="1"/>
          </p:cNvSpPr>
          <p:nvPr>
            <p:ph type="subTitle" idx="13"/>
          </p:nvPr>
        </p:nvSpPr>
        <p:spPr>
          <a:xfrm>
            <a:off x="2362200" y="3790206"/>
            <a:ext cx="6781800" cy="742950"/>
          </a:xfrm>
        </p:spPr>
        <p:txBody>
          <a:bodyPr/>
          <a:lstStyle>
            <a:lvl1pPr marL="0" indent="0" algn="l">
              <a:buFontTx/>
              <a:buNone/>
              <a:defRPr sz="1500">
                <a:solidFill>
                  <a:srgbClr val="000000"/>
                </a:solidFill>
              </a:defRPr>
            </a:lvl1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13" name="Textplatzhalter 2">
            <a:extLst>
              <a:ext uri="{FF2B5EF4-FFF2-40B4-BE49-F238E27FC236}">
                <a16:creationId xmlns:a16="http://schemas.microsoft.com/office/drawing/2014/main" id="{465640ED-7619-B7D0-3D38-7810D1F8AA0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555776" y="87474"/>
            <a:ext cx="6480720" cy="918102"/>
          </a:xfrm>
        </p:spPr>
        <p:txBody>
          <a:bodyPr anchor="ctr"/>
          <a:lstStyle>
            <a:lvl1pPr marL="0" indent="0" algn="r"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cxnSp>
        <p:nvCxnSpPr>
          <p:cNvPr id="15" name="Gerade Verbindung 14">
            <a:extLst>
              <a:ext uri="{FF2B5EF4-FFF2-40B4-BE49-F238E27FC236}">
                <a16:creationId xmlns:a16="http://schemas.microsoft.com/office/drawing/2014/main" id="{5CA3F0CE-0993-859C-C3A5-86BA05192351}"/>
              </a:ext>
            </a:extLst>
          </p:cNvPr>
          <p:cNvCxnSpPr/>
          <p:nvPr userDrawn="1"/>
        </p:nvCxnSpPr>
        <p:spPr>
          <a:xfrm>
            <a:off x="0" y="1437625"/>
            <a:ext cx="9144000" cy="0"/>
          </a:xfrm>
          <a:prstGeom prst="line">
            <a:avLst/>
          </a:prstGeom>
          <a:ln w="25400">
            <a:solidFill>
              <a:srgbClr val="B3B3B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F483A-9A3D-304F-A719-372744F04D65}" type="datetime1">
              <a:rPr lang="de-DE" smtClean="0"/>
              <a:t>12.10.23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4964523"/>
            <a:ext cx="2895600" cy="1728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57200" y="4975323"/>
            <a:ext cx="2133600" cy="162000"/>
          </a:xfrm>
        </p:spPr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CBED5544-6AB7-474B-90E7-55619882628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87474"/>
            <a:ext cx="8458200" cy="769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de-DE" dirty="0"/>
              <a:t>Mastertitelformat bearbeiten</a:t>
            </a:r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77676249-2B82-B4B1-C480-4A6FF82934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914400"/>
            <a:ext cx="4152900" cy="4114800"/>
          </a:xfrm>
        </p:spPr>
        <p:txBody>
          <a:bodyPr/>
          <a:lstStyle>
            <a:lvl1pPr>
              <a:defRPr sz="1500"/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" name="Inhaltsplatzhalter 3">
            <a:extLst>
              <a:ext uri="{FF2B5EF4-FFF2-40B4-BE49-F238E27FC236}">
                <a16:creationId xmlns:a16="http://schemas.microsoft.com/office/drawing/2014/main" id="{E99AAAEA-D479-7EDD-3465-84A8C36EFD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62500" y="914400"/>
            <a:ext cx="4152900" cy="4114800"/>
          </a:xfrm>
        </p:spPr>
        <p:txBody>
          <a:bodyPr/>
          <a:lstStyle>
            <a:lvl1pPr>
              <a:defRPr sz="1500"/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1" name="Inhaltsplatzhalter 6">
            <a:extLst>
              <a:ext uri="{FF2B5EF4-FFF2-40B4-BE49-F238E27FC236}">
                <a16:creationId xmlns:a16="http://schemas.microsoft.com/office/drawing/2014/main" id="{75433837-3776-1443-F388-69D7B044E4E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2195736" y="564561"/>
            <a:ext cx="6714008" cy="283369"/>
          </a:xfrm>
        </p:spPr>
        <p:txBody>
          <a:bodyPr anchor="b"/>
          <a:lstStyle>
            <a:lvl1pPr marL="0" indent="0" algn="r">
              <a:buNone/>
              <a:defRPr sz="1350"/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de-DE" dirty="0"/>
              <a:t>Formatvorlagen des Textmasters bearbeiten</a:t>
            </a:r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E8984-0F12-A742-922A-A8090EF07157}" type="datetime1">
              <a:rPr lang="de-DE" smtClean="0"/>
              <a:t>12.10.23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4964523"/>
            <a:ext cx="2895600" cy="1728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57200" y="4975323"/>
            <a:ext cx="2133600" cy="162000"/>
          </a:xfrm>
        </p:spPr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CBED5544-6AB7-474B-90E7-55619882628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87474"/>
            <a:ext cx="8458200" cy="769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de-DE" dirty="0"/>
              <a:t>Mastertitelformat bearbeiten</a:t>
            </a:r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77676249-2B82-B4B1-C480-4A6FF82934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914400"/>
            <a:ext cx="4152900" cy="4114800"/>
          </a:xfrm>
        </p:spPr>
        <p:txBody>
          <a:bodyPr/>
          <a:lstStyle>
            <a:lvl1pPr>
              <a:defRPr sz="1500"/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" name="Inhaltsplatzhalter 3">
            <a:extLst>
              <a:ext uri="{FF2B5EF4-FFF2-40B4-BE49-F238E27FC236}">
                <a16:creationId xmlns:a16="http://schemas.microsoft.com/office/drawing/2014/main" id="{E99AAAEA-D479-7EDD-3465-84A8C36EFD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62500" y="914400"/>
            <a:ext cx="4152900" cy="4114800"/>
          </a:xfrm>
        </p:spPr>
        <p:txBody>
          <a:bodyPr/>
          <a:lstStyle>
            <a:lvl1pPr>
              <a:defRPr sz="1500"/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2" name="Inhaltsplatzhalter 6">
            <a:extLst>
              <a:ext uri="{FF2B5EF4-FFF2-40B4-BE49-F238E27FC236}">
                <a16:creationId xmlns:a16="http://schemas.microsoft.com/office/drawing/2014/main" id="{B6522C21-1C9E-4CF8-EE22-311F1A9CC3B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2195736" y="564561"/>
            <a:ext cx="6714008" cy="283369"/>
          </a:xfrm>
        </p:spPr>
        <p:txBody>
          <a:bodyPr anchor="b"/>
          <a:lstStyle>
            <a:lvl1pPr marL="0" indent="0" algn="r">
              <a:buNone/>
              <a:defRPr sz="1350"/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de-DE" dirty="0"/>
              <a:t>Formatvorlagen des Textmasters bearbeiten</a:t>
            </a:r>
          </a:p>
        </p:txBody>
      </p:sp>
    </p:spTree>
    <p:extLst>
      <p:ext uri="{BB962C8B-B14F-4D97-AF65-F5344CB8AC3E}">
        <p14:creationId xmlns:p14="http://schemas.microsoft.com/office/powerpoint/2010/main" val="17758583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781800" y="4975323"/>
            <a:ext cx="2133600" cy="162000"/>
          </a:xfrm>
        </p:spPr>
        <p:txBody>
          <a:bodyPr/>
          <a:lstStyle/>
          <a:p>
            <a:fld id="{42F3ABDC-3C3B-494D-B84A-B0531873F86E}" type="datetime1">
              <a:rPr lang="de-DE" smtClean="0"/>
              <a:t>12.10.23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4964523"/>
            <a:ext cx="2895600" cy="1728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457200" y="4975323"/>
            <a:ext cx="2133600" cy="162000"/>
          </a:xfrm>
        </p:spPr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C568A968-5A78-2EBB-D5E8-2465A9DA32D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87474"/>
            <a:ext cx="8458200" cy="769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de-DE" dirty="0"/>
              <a:t>Mastertitelformat bearbeiten</a:t>
            </a:r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ED75DC8B-70F6-0450-37E6-B7FDA68F941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2195736" y="564561"/>
            <a:ext cx="6714008" cy="283369"/>
          </a:xfrm>
        </p:spPr>
        <p:txBody>
          <a:bodyPr anchor="b"/>
          <a:lstStyle>
            <a:lvl1pPr marL="0" indent="0" algn="r">
              <a:buNone/>
              <a:defRPr sz="1350"/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de-DE" dirty="0"/>
              <a:t>Formatvorlagen des Textmasters bearbeiten</a:t>
            </a:r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781800" y="4975323"/>
            <a:ext cx="2133600" cy="162000"/>
          </a:xfrm>
        </p:spPr>
        <p:txBody>
          <a:bodyPr/>
          <a:lstStyle/>
          <a:p>
            <a:fld id="{B0292DBD-1927-7D43-8995-60BC088FAE68}" type="datetime1">
              <a:rPr lang="de-DE" smtClean="0"/>
              <a:t>12.10.23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4964523"/>
            <a:ext cx="2895600" cy="1728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457200" y="4975323"/>
            <a:ext cx="2133600" cy="162000"/>
          </a:xfrm>
        </p:spPr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914400"/>
            <a:ext cx="3008313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81800" y="4975323"/>
            <a:ext cx="2133600" cy="162000"/>
          </a:xfrm>
        </p:spPr>
        <p:txBody>
          <a:bodyPr/>
          <a:lstStyle/>
          <a:p>
            <a:fld id="{047E9BF5-5E6A-814E-BFED-61EE6B090993}" type="datetime1">
              <a:rPr lang="de-DE" smtClean="0"/>
              <a:t>12.10.23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4964523"/>
            <a:ext cx="2895600" cy="1728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57200" y="4975323"/>
            <a:ext cx="2133600" cy="162000"/>
          </a:xfrm>
        </p:spPr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  <p:sp>
        <p:nvSpPr>
          <p:cNvPr id="10" name="Inhaltsplatzhalter 3">
            <a:extLst>
              <a:ext uri="{FF2B5EF4-FFF2-40B4-BE49-F238E27FC236}">
                <a16:creationId xmlns:a16="http://schemas.microsoft.com/office/drawing/2014/main" id="{EA24B6EF-7C77-312E-52E5-CF892E6DC9BD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3619500" y="914400"/>
            <a:ext cx="5295900" cy="4114800"/>
          </a:xfrm>
        </p:spPr>
        <p:txBody>
          <a:bodyPr/>
          <a:lstStyle>
            <a:lvl1pPr>
              <a:defRPr sz="1500"/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F33AC58F-1466-28A9-65FF-1A0823987BB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87474"/>
            <a:ext cx="8458200" cy="769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de-DE" dirty="0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3578344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81800" y="4975323"/>
            <a:ext cx="2133600" cy="162000"/>
          </a:xfrm>
        </p:spPr>
        <p:txBody>
          <a:bodyPr/>
          <a:lstStyle/>
          <a:p>
            <a:fld id="{FC224E9E-5140-C545-A8A2-C2E1EBDB5371}" type="datetime1">
              <a:rPr lang="de-DE" smtClean="0"/>
              <a:t>12.10.23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4964523"/>
            <a:ext cx="2895600" cy="1728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57200" y="4975323"/>
            <a:ext cx="2133600" cy="162000"/>
          </a:xfrm>
        </p:spPr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0"/>
            <a:ext cx="8458200" cy="411480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781800" y="4975323"/>
            <a:ext cx="2133600" cy="162000"/>
          </a:xfrm>
        </p:spPr>
        <p:txBody>
          <a:bodyPr/>
          <a:lstStyle/>
          <a:p>
            <a:fld id="{F2BC9F30-B097-DD4C-AF67-2CA692E2C6A6}" type="datetime1">
              <a:rPr lang="de-DE" smtClean="0"/>
              <a:t>12.10.23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964523"/>
            <a:ext cx="2895600" cy="1728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57200" y="4975323"/>
            <a:ext cx="2133600" cy="162000"/>
          </a:xfrm>
        </p:spPr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D92331F8-9C36-26EE-33E4-384967B34BC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87474"/>
            <a:ext cx="8458200" cy="769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de-DE" dirty="0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8"/>
            <a:ext cx="2286000" cy="4823221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82322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781800" y="4975323"/>
            <a:ext cx="2133600" cy="162000"/>
          </a:xfrm>
        </p:spPr>
        <p:txBody>
          <a:bodyPr/>
          <a:lstStyle/>
          <a:p>
            <a:fld id="{A1915E92-8591-0D4C-A8F4-9EE7DD17135B}" type="datetime1">
              <a:rPr lang="de-DE" smtClean="0"/>
              <a:t>12.10.23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964523"/>
            <a:ext cx="2895600" cy="1728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57200" y="4975323"/>
            <a:ext cx="2133600" cy="162000"/>
          </a:xfrm>
        </p:spPr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81800" y="4975323"/>
            <a:ext cx="2133600" cy="162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44905D-E586-C348-8432-BB6C5E375EEE}" type="datetime1">
              <a:rPr lang="de-DE" smtClean="0"/>
              <a:t>12.10.23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57200" y="4975323"/>
            <a:ext cx="2133600" cy="162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2E99D951-F29E-00A8-3902-B1F2488E5F9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87474"/>
            <a:ext cx="8458200" cy="769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de-DE" noProof="0"/>
              <a:t>Mastertitelformat bearbeiten</a:t>
            </a:r>
          </a:p>
        </p:txBody>
      </p:sp>
      <p:sp>
        <p:nvSpPr>
          <p:cNvPr id="14" name="Rectangle 4">
            <a:extLst>
              <a:ext uri="{FF2B5EF4-FFF2-40B4-BE49-F238E27FC236}">
                <a16:creationId xmlns:a16="http://schemas.microsoft.com/office/drawing/2014/main" id="{9D143211-F898-B3F5-574B-521CF837387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914400"/>
            <a:ext cx="84582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</a:p>
        </p:txBody>
      </p:sp>
      <p:cxnSp>
        <p:nvCxnSpPr>
          <p:cNvPr id="15" name="Gerade Verbindung 14">
            <a:extLst>
              <a:ext uri="{FF2B5EF4-FFF2-40B4-BE49-F238E27FC236}">
                <a16:creationId xmlns:a16="http://schemas.microsoft.com/office/drawing/2014/main" id="{FC54FEF2-F8E0-BB8C-400D-2CDD4319D588}"/>
              </a:ext>
            </a:extLst>
          </p:cNvPr>
          <p:cNvCxnSpPr/>
          <p:nvPr userDrawn="1"/>
        </p:nvCxnSpPr>
        <p:spPr>
          <a:xfrm>
            <a:off x="0" y="857251"/>
            <a:ext cx="9144000" cy="0"/>
          </a:xfrm>
          <a:prstGeom prst="line">
            <a:avLst/>
          </a:prstGeom>
          <a:ln w="25400">
            <a:solidFill>
              <a:srgbClr val="B3B3B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152EE166-1E73-4D92-6833-7607615B8B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964523"/>
            <a:ext cx="3086100" cy="172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60" r:id="rId5"/>
    <p:sldLayoutId id="2147483654" r:id="rId6"/>
    <p:sldLayoutId id="2147483655" r:id="rId7"/>
    <p:sldLayoutId id="2147483661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342900" rtl="0" eaLnBrk="1" latinLnBrk="0" hangingPunct="1">
        <a:spcBef>
          <a:spcPct val="0"/>
        </a:spcBef>
        <a:buNone/>
        <a:defRPr sz="1800" kern="1200">
          <a:solidFill>
            <a:schemeClr val="tx1">
              <a:lumMod val="50000"/>
              <a:lumOff val="50000"/>
            </a:schemeClr>
          </a:solidFill>
          <a:latin typeface="+mj-lt"/>
          <a:ea typeface="+mj-ea"/>
          <a:cs typeface="+mj-cs"/>
        </a:defRPr>
      </a:lvl1pPr>
    </p:titleStyle>
    <p:bodyStyle>
      <a:lvl1pPr marL="255600" indent="-255600" algn="l" defTabSz="914400" rtl="0" eaLnBrk="1" latinLnBrk="0" hangingPunct="1">
        <a:spcBef>
          <a:spcPct val="20000"/>
        </a:spcBef>
        <a:buClr>
          <a:schemeClr val="accent2"/>
        </a:buClr>
        <a:buSzPct val="100000"/>
        <a:buFont typeface="Wingdings" pitchFamily="2" charset="2"/>
        <a:buChar char="§"/>
        <a:defRPr lang="en-US" sz="1500" kern="1200" dirty="0">
          <a:solidFill>
            <a:schemeClr val="tx2"/>
          </a:solidFill>
          <a:latin typeface="+mn-lt"/>
          <a:ea typeface="ＭＳ Ｐゴシック" charset="0"/>
          <a:cs typeface="+mn-cs"/>
        </a:defRPr>
      </a:lvl1pPr>
      <a:lvl2pPr marL="558000" indent="-216000" algn="l" defTabSz="914400" rtl="0" eaLnBrk="1" latinLnBrk="0" hangingPunct="1">
        <a:spcBef>
          <a:spcPct val="20000"/>
        </a:spcBef>
        <a:buClr>
          <a:schemeClr val="tx2"/>
        </a:buClr>
        <a:buFont typeface="Arial"/>
        <a:buChar char="–"/>
        <a:defRPr lang="en-US" sz="1500" kern="1200" dirty="0">
          <a:solidFill>
            <a:schemeClr val="tx1"/>
          </a:solidFill>
          <a:latin typeface="+mn-lt"/>
          <a:ea typeface="ＭＳ Ｐゴシック" pitchFamily="-107" charset="-128"/>
          <a:cs typeface="+mn-cs"/>
        </a:defRPr>
      </a:lvl2pPr>
      <a:lvl3pPr marL="856800" indent="-172800" algn="l" defTabSz="914400" rtl="0" eaLnBrk="1" latinLnBrk="0" hangingPunct="1">
        <a:spcBef>
          <a:spcPct val="20000"/>
        </a:spcBef>
        <a:buClr>
          <a:schemeClr val="bg2"/>
        </a:buClr>
        <a:buFont typeface="Arial"/>
        <a:buChar char="•"/>
        <a:defRPr lang="en-US" sz="1500" kern="1200" dirty="0">
          <a:solidFill>
            <a:schemeClr val="tx1"/>
          </a:solidFill>
          <a:latin typeface="+mn-lt"/>
          <a:ea typeface="ＭＳ Ｐゴシック" pitchFamily="-107" charset="-128"/>
          <a:cs typeface="+mn-cs"/>
        </a:defRPr>
      </a:lvl3pPr>
      <a:lvl4pPr marL="1198800" indent="-172800" algn="l" defTabSz="9144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4400" indent="-172800" algn="l" defTabSz="9144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emf"/><Relationship Id="rId4" Type="http://schemas.openxmlformats.org/officeDocument/2006/relationships/oleObject" Target="../embeddings/oleObject2.bin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3.emf"/><Relationship Id="rId4" Type="http://schemas.openxmlformats.org/officeDocument/2006/relationships/oleObject" Target="../embeddings/oleObject3.bin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platzhalter 11">
            <a:extLst>
              <a:ext uri="{FF2B5EF4-FFF2-40B4-BE49-F238E27FC236}">
                <a16:creationId xmlns:a16="http://schemas.microsoft.com/office/drawing/2014/main" id="{11CABC5B-97F5-A2B7-6D00-4F339769271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5776" y="87474"/>
            <a:ext cx="6480720" cy="918102"/>
          </a:xfrm>
        </p:spPr>
        <p:txBody>
          <a:bodyPr/>
          <a:lstStyle/>
          <a:p>
            <a:r>
              <a:rPr lang="de-DE"/>
              <a:t>14. September 2023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62200" y="2304306"/>
            <a:ext cx="6781800" cy="800100"/>
          </a:xfrm>
        </p:spPr>
        <p:txBody>
          <a:bodyPr/>
          <a:lstStyle/>
          <a:p>
            <a:r>
              <a:rPr lang="de-DE"/>
              <a:t>Template für Folien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62200" y="3790206"/>
            <a:ext cx="6781800" cy="742950"/>
          </a:xfrm>
        </p:spPr>
        <p:txBody>
          <a:bodyPr/>
          <a:lstStyle/>
          <a:p>
            <a:r>
              <a:rPr lang="de-DE" dirty="0"/>
              <a:t>Prof. Dr. </a:t>
            </a:r>
            <a:r>
              <a:rPr lang="de-DE"/>
              <a:t>Hannes Federrath</a:t>
            </a:r>
          </a:p>
        </p:txBody>
      </p:sp>
    </p:spTree>
    <p:extLst>
      <p:ext uri="{BB962C8B-B14F-4D97-AF65-F5344CB8AC3E}">
        <p14:creationId xmlns:p14="http://schemas.microsoft.com/office/powerpoint/2010/main" val="3926690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457200" y="914400"/>
            <a:ext cx="8458200" cy="4114800"/>
          </a:xfrm>
        </p:spPr>
        <p:txBody>
          <a:bodyPr/>
          <a:lstStyle/>
          <a:p>
            <a:endParaRPr lang="de-DE" dirty="0"/>
          </a:p>
          <a:p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consectetur</a:t>
            </a:r>
            <a:r>
              <a:rPr lang="de-DE" dirty="0"/>
              <a:t> </a:t>
            </a:r>
            <a:r>
              <a:rPr lang="de-DE" dirty="0" err="1"/>
              <a:t>adipisicing</a:t>
            </a:r>
            <a:r>
              <a:rPr lang="de-DE" dirty="0"/>
              <a:t> </a:t>
            </a:r>
            <a:r>
              <a:rPr lang="de-DE" dirty="0" err="1"/>
              <a:t>elit</a:t>
            </a:r>
            <a:r>
              <a:rPr lang="de-DE" dirty="0"/>
              <a:t>, sed do </a:t>
            </a:r>
            <a:r>
              <a:rPr lang="de-DE" dirty="0" err="1"/>
              <a:t>eiusmod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incididunt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aliqua</a:t>
            </a:r>
            <a:r>
              <a:rPr lang="de-DE" dirty="0"/>
              <a:t>.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enim</a:t>
            </a:r>
            <a:r>
              <a:rPr lang="de-DE" dirty="0"/>
              <a:t> ad minim </a:t>
            </a:r>
            <a:r>
              <a:rPr lang="de-DE" dirty="0" err="1"/>
              <a:t>veniam</a:t>
            </a:r>
            <a:r>
              <a:rPr lang="de-DE" dirty="0"/>
              <a:t>, </a:t>
            </a:r>
            <a:r>
              <a:rPr lang="de-DE" dirty="0" err="1"/>
              <a:t>quis</a:t>
            </a:r>
            <a:r>
              <a:rPr lang="de-DE" dirty="0"/>
              <a:t> </a:t>
            </a:r>
            <a:r>
              <a:rPr lang="de-DE" dirty="0" err="1"/>
              <a:t>nostrud</a:t>
            </a:r>
            <a:r>
              <a:rPr lang="de-DE" dirty="0"/>
              <a:t> </a:t>
            </a:r>
            <a:r>
              <a:rPr lang="de-DE" dirty="0" err="1"/>
              <a:t>exercitation</a:t>
            </a:r>
            <a:r>
              <a:rPr lang="de-DE" dirty="0"/>
              <a:t> </a:t>
            </a:r>
            <a:r>
              <a:rPr lang="de-DE" dirty="0" err="1"/>
              <a:t>ullamco</a:t>
            </a:r>
            <a:r>
              <a:rPr lang="de-DE" dirty="0"/>
              <a:t> </a:t>
            </a:r>
            <a:r>
              <a:rPr lang="de-DE" dirty="0" err="1"/>
              <a:t>laboris</a:t>
            </a:r>
            <a:r>
              <a:rPr lang="de-DE" dirty="0"/>
              <a:t> nisi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aliquip</a:t>
            </a:r>
            <a:r>
              <a:rPr lang="de-DE" dirty="0"/>
              <a:t> ex </a:t>
            </a:r>
            <a:r>
              <a:rPr lang="de-DE" dirty="0" err="1"/>
              <a:t>ea</a:t>
            </a:r>
            <a:r>
              <a:rPr lang="de-DE" dirty="0"/>
              <a:t> commodo </a:t>
            </a:r>
            <a:r>
              <a:rPr lang="de-DE" dirty="0" err="1"/>
              <a:t>consequat</a:t>
            </a:r>
            <a:r>
              <a:rPr lang="de-DE" dirty="0"/>
              <a:t>. </a:t>
            </a:r>
          </a:p>
          <a:p>
            <a:endParaRPr lang="de-DE" dirty="0"/>
          </a:p>
          <a:p>
            <a:r>
              <a:rPr lang="de-DE" dirty="0"/>
              <a:t>Forschungsfragen</a:t>
            </a:r>
          </a:p>
          <a:p>
            <a:pPr lvl="1"/>
            <a:r>
              <a:rPr lang="de-DE" dirty="0"/>
              <a:t>Privacy </a:t>
            </a:r>
            <a:r>
              <a:rPr lang="de-DE" dirty="0" err="1"/>
              <a:t>Enhancing</a:t>
            </a:r>
            <a:r>
              <a:rPr lang="de-DE" dirty="0"/>
              <a:t> Technologies (PET)</a:t>
            </a:r>
          </a:p>
          <a:p>
            <a:pPr lvl="1"/>
            <a:r>
              <a:rPr lang="de-DE" dirty="0"/>
              <a:t>Security Management &amp; Risk Management</a:t>
            </a:r>
          </a:p>
          <a:p>
            <a:pPr lvl="1"/>
            <a:r>
              <a:rPr lang="de-DE" dirty="0"/>
              <a:t>Security </a:t>
            </a:r>
            <a:r>
              <a:rPr lang="de-DE" dirty="0" err="1"/>
              <a:t>of</a:t>
            </a:r>
            <a:r>
              <a:rPr lang="de-DE" dirty="0"/>
              <a:t> Mobile Systems</a:t>
            </a:r>
          </a:p>
          <a:p>
            <a:endParaRPr lang="de-DE" dirty="0"/>
          </a:p>
          <a:p>
            <a:r>
              <a:rPr lang="de-DE" dirty="0"/>
              <a:t>Methoden und Verfahren</a:t>
            </a:r>
          </a:p>
          <a:p>
            <a:pPr lvl="1"/>
            <a:r>
              <a:rPr lang="de-DE" dirty="0"/>
              <a:t>Durchführung einer Risikoanalyse</a:t>
            </a:r>
          </a:p>
          <a:p>
            <a:pPr lvl="1"/>
            <a:r>
              <a:rPr lang="de-DE" dirty="0"/>
              <a:t>Einsatz von Verschlüsselungsverfahren</a:t>
            </a:r>
          </a:p>
          <a:p>
            <a:pPr lvl="1"/>
            <a:r>
              <a:rPr lang="de-DE" dirty="0"/>
              <a:t>Intrusion </a:t>
            </a:r>
            <a:r>
              <a:rPr lang="de-DE" dirty="0" err="1"/>
              <a:t>Prevention</a:t>
            </a:r>
            <a:r>
              <a:rPr lang="de-DE" dirty="0"/>
              <a:t> und Malware </a:t>
            </a:r>
            <a:r>
              <a:rPr lang="de-DE" dirty="0" err="1"/>
              <a:t>Detection</a:t>
            </a:r>
            <a:endParaRPr lang="de-DE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87474"/>
            <a:ext cx="8458200" cy="769776"/>
          </a:xfrm>
        </p:spPr>
        <p:txBody>
          <a:bodyPr/>
          <a:lstStyle/>
          <a:p>
            <a:r>
              <a:rPr lang="de-DE"/>
              <a:t>Einführung</a:t>
            </a:r>
          </a:p>
        </p:txBody>
      </p:sp>
      <p:sp>
        <p:nvSpPr>
          <p:cNvPr id="12" name="Inhaltsplatzhalter 11">
            <a:extLst>
              <a:ext uri="{FF2B5EF4-FFF2-40B4-BE49-F238E27FC236}">
                <a16:creationId xmlns:a16="http://schemas.microsoft.com/office/drawing/2014/main" id="{2EBEEA92-22F2-3F9B-9314-180C1E4FB729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6B22BE0D-24F4-01F7-BD97-A43141F198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31850" y="2485248"/>
            <a:ext cx="2272233" cy="2169825"/>
          </a:xfrm>
          <a:prstGeom prst="rect">
            <a:avLst/>
          </a:prstGeom>
          <a:solidFill>
            <a:schemeClr val="accent5"/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67500" anchor="ctr">
            <a:spAutoFit/>
          </a:bodyPr>
          <a:lstStyle/>
          <a:p>
            <a:pPr>
              <a:defRPr/>
            </a:pPr>
            <a:r>
              <a:rPr lang="de-DE" sz="1350" b="1" dirty="0">
                <a:latin typeface="Calibri" panose="020F0502020204030204" pitchFamily="34" charset="0"/>
                <a:cs typeface="Calibri" panose="020F0502020204030204" pitchFamily="34" charset="0"/>
              </a:rPr>
              <a:t>Hinweis:</a:t>
            </a:r>
          </a:p>
          <a:p>
            <a:pPr>
              <a:defRPr/>
            </a:pPr>
            <a:r>
              <a:rPr lang="de-DE" sz="1350" dirty="0">
                <a:latin typeface="Calibri" panose="020F0502020204030204" pitchFamily="34" charset="0"/>
                <a:cs typeface="Calibri" panose="020F0502020204030204" pitchFamily="34" charset="0"/>
              </a:rPr>
              <a:t>Das ist die Fassung des SVS-Templates, mit der mit Hilfe von </a:t>
            </a:r>
            <a:r>
              <a:rPr lang="de-DE" sz="1350" dirty="0" err="1">
                <a:latin typeface="Calibri" panose="020F0502020204030204" pitchFamily="34" charset="0"/>
                <a:cs typeface="Calibri" panose="020F0502020204030204" pitchFamily="34" charset="0"/>
              </a:rPr>
              <a:t>Pandoc</a:t>
            </a:r>
            <a:r>
              <a:rPr lang="de-DE" sz="1350" dirty="0">
                <a:latin typeface="Calibri" panose="020F0502020204030204" pitchFamily="34" charset="0"/>
                <a:cs typeface="Calibri" panose="020F0502020204030204" pitchFamily="34" charset="0"/>
              </a:rPr>
              <a:t> die Folien auch aus </a:t>
            </a:r>
            <a:r>
              <a:rPr lang="de-DE" sz="1350" dirty="0" err="1">
                <a:latin typeface="Calibri" panose="020F0502020204030204" pitchFamily="34" charset="0"/>
                <a:cs typeface="Calibri" panose="020F0502020204030204" pitchFamily="34" charset="0"/>
              </a:rPr>
              <a:t>Markdown</a:t>
            </a:r>
            <a:r>
              <a:rPr lang="de-DE" sz="1350" dirty="0">
                <a:latin typeface="Calibri" panose="020F0502020204030204" pitchFamily="34" charset="0"/>
                <a:cs typeface="Calibri" panose="020F0502020204030204" pitchFamily="34" charset="0"/>
              </a:rPr>
              <a:t>-Dateien erzeugt werden können. Hierzu wurden die Namen der einzelnen Folientemplates an die Anforderungen von </a:t>
            </a:r>
            <a:r>
              <a:rPr lang="de-DE" sz="1350" dirty="0" err="1">
                <a:latin typeface="Calibri" panose="020F0502020204030204" pitchFamily="34" charset="0"/>
                <a:cs typeface="Calibri" panose="020F0502020204030204" pitchFamily="34" charset="0"/>
              </a:rPr>
              <a:t>Pandoc</a:t>
            </a:r>
            <a:r>
              <a:rPr lang="de-DE" sz="1350" dirty="0">
                <a:latin typeface="Calibri" panose="020F0502020204030204" pitchFamily="34" charset="0"/>
                <a:cs typeface="Calibri" panose="020F0502020204030204" pitchFamily="34" charset="0"/>
              </a:rPr>
              <a:t> angepasst.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994610-BE3C-C053-B29F-C45D8C5689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27074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C4F9E4EC-4F0F-8B14-7830-99D6D928834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7200" y="914400"/>
            <a:ext cx="8458200" cy="4114800"/>
          </a:xfrm>
        </p:spPr>
        <p:txBody>
          <a:bodyPr/>
          <a:lstStyle/>
          <a:p>
            <a:r>
              <a:rPr lang="de-DE" dirty="0"/>
              <a:t>Ziel aus Sicht eines Dienstanbieters A: Einer Dienstnutzerin N einen Inhalt (Content) in einer bestimmten Weise zugänglich machen, ihn aber daran hindern, alles damit tun zu können.</a:t>
            </a:r>
          </a:p>
          <a:p>
            <a:endParaRPr lang="de-DE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416D4806-552A-8FF2-A332-4541F2F3BA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87474"/>
            <a:ext cx="8458200" cy="769776"/>
          </a:xfrm>
        </p:spPr>
        <p:txBody>
          <a:bodyPr/>
          <a:lstStyle/>
          <a:p>
            <a:r>
              <a:rPr lang="de-DE" dirty="0"/>
              <a:t>Beispiel für eine Abbildung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5F1424C8-72BF-EBA3-DE8B-5E7DE2EBA2A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2195736" y="564561"/>
            <a:ext cx="6714008" cy="283369"/>
          </a:xfrm>
        </p:spPr>
        <p:txBody>
          <a:bodyPr/>
          <a:lstStyle/>
          <a:p>
            <a:r>
              <a:rPr lang="de-DE" dirty="0"/>
              <a:t>Quellenangabe</a:t>
            </a:r>
          </a:p>
        </p:txBody>
      </p:sp>
      <p:grpSp>
        <p:nvGrpSpPr>
          <p:cNvPr id="8" name="Gruppieren 7">
            <a:extLst>
              <a:ext uri="{FF2B5EF4-FFF2-40B4-BE49-F238E27FC236}">
                <a16:creationId xmlns:a16="http://schemas.microsoft.com/office/drawing/2014/main" id="{F03936E3-32C8-3255-9C2E-620AE8873548}"/>
              </a:ext>
            </a:extLst>
          </p:cNvPr>
          <p:cNvGrpSpPr/>
          <p:nvPr/>
        </p:nvGrpSpPr>
        <p:grpSpPr>
          <a:xfrm>
            <a:off x="2331046" y="1739542"/>
            <a:ext cx="1482152" cy="1412973"/>
            <a:chOff x="2557253" y="2581511"/>
            <a:chExt cx="1482152" cy="1412973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358BDB8F-008E-6849-F0AA-8FD0EDB6098A}"/>
                </a:ext>
              </a:extLst>
            </p:cNvPr>
            <p:cNvSpPr/>
            <p:nvPr/>
          </p:nvSpPr>
          <p:spPr bwMode="auto">
            <a:xfrm>
              <a:off x="2968171" y="2652495"/>
              <a:ext cx="916067" cy="907913"/>
            </a:xfrm>
            <a:prstGeom prst="ellipse">
              <a:avLst/>
            </a:prstGeom>
            <a:solidFill>
              <a:schemeClr val="accent5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e-DE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107" charset="0"/>
                <a:ea typeface="ＭＳ Ｐゴシック" pitchFamily="-107" charset="-128"/>
                <a:cs typeface="ＭＳ Ｐゴシック" pitchFamily="-107" charset="-128"/>
              </a:endParaRPr>
            </a:p>
          </p:txBody>
        </p:sp>
        <p:graphicFrame>
          <p:nvGraphicFramePr>
            <p:cNvPr id="10" name="Object 1027">
              <a:extLst>
                <a:ext uri="{FF2B5EF4-FFF2-40B4-BE49-F238E27FC236}">
                  <a16:creationId xmlns:a16="http://schemas.microsoft.com/office/drawing/2014/main" id="{8485F6C5-5C27-8440-820B-B030F68BD53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576358" y="2780540"/>
            <a:ext cx="1463047" cy="12098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lip" r:id="rId2" imgW="3825089" imgH="3447861" progId="">
                    <p:embed/>
                  </p:oleObj>
                </mc:Choice>
                <mc:Fallback>
                  <p:oleObj name="Clip" r:id="rId2" imgW="3825089" imgH="3447861" progId="">
                    <p:embed/>
                    <p:pic>
                      <p:nvPicPr>
                        <p:cNvPr id="73" name="Object 1027">
                          <a:extLst>
                            <a:ext uri="{FF2B5EF4-FFF2-40B4-BE49-F238E27FC236}">
                              <a16:creationId xmlns:a16="http://schemas.microsoft.com/office/drawing/2014/main" id="{FB540DB4-84B8-FE4D-BB2A-4250645C3C9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76358" y="2780540"/>
                          <a:ext cx="1463047" cy="120985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 xmlns="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" name="Ring 10">
              <a:extLst>
                <a:ext uri="{FF2B5EF4-FFF2-40B4-BE49-F238E27FC236}">
                  <a16:creationId xmlns:a16="http://schemas.microsoft.com/office/drawing/2014/main" id="{8E1A257E-5FCB-4E07-D17B-3D6C10572934}"/>
                </a:ext>
              </a:extLst>
            </p:cNvPr>
            <p:cNvSpPr/>
            <p:nvPr/>
          </p:nvSpPr>
          <p:spPr bwMode="auto">
            <a:xfrm>
              <a:off x="2891662" y="2581511"/>
              <a:ext cx="1068050" cy="1066756"/>
            </a:xfrm>
            <a:prstGeom prst="donut">
              <a:avLst>
                <a:gd name="adj" fmla="val 10630"/>
              </a:avLst>
            </a:prstGeom>
            <a:solidFill>
              <a:schemeClr val="bg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e-DE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107" charset="0"/>
                <a:ea typeface="ＭＳ Ｐゴシック" pitchFamily="-107" charset="-128"/>
                <a:cs typeface="ＭＳ Ｐゴシック" pitchFamily="-107" charset="-128"/>
              </a:endParaRPr>
            </a:p>
          </p:txBody>
        </p:sp>
        <p:sp>
          <p:nvSpPr>
            <p:cNvPr id="12" name="Freihandform 11">
              <a:extLst>
                <a:ext uri="{FF2B5EF4-FFF2-40B4-BE49-F238E27FC236}">
                  <a16:creationId xmlns:a16="http://schemas.microsoft.com/office/drawing/2014/main" id="{C4FFFF02-9D9A-3AE6-CFDF-6A473D42D631}"/>
                </a:ext>
              </a:extLst>
            </p:cNvPr>
            <p:cNvSpPr/>
            <p:nvPr/>
          </p:nvSpPr>
          <p:spPr bwMode="auto">
            <a:xfrm>
              <a:off x="2557253" y="2701949"/>
              <a:ext cx="1478166" cy="1292535"/>
            </a:xfrm>
            <a:custGeom>
              <a:avLst/>
              <a:gdLst>
                <a:gd name="connsiteX0" fmla="*/ 6875 w 1478166"/>
                <a:gd name="connsiteY0" fmla="*/ 1292535 h 1292535"/>
                <a:gd name="connsiteX1" fmla="*/ 1478166 w 1478166"/>
                <a:gd name="connsiteY1" fmla="*/ 1292535 h 1292535"/>
                <a:gd name="connsiteX2" fmla="*/ 1471290 w 1478166"/>
                <a:gd name="connsiteY2" fmla="*/ 371260 h 1292535"/>
                <a:gd name="connsiteX3" fmla="*/ 1333787 w 1478166"/>
                <a:gd name="connsiteY3" fmla="*/ 378135 h 1292535"/>
                <a:gd name="connsiteX4" fmla="*/ 1306286 w 1478166"/>
                <a:gd name="connsiteY4" fmla="*/ 556890 h 1292535"/>
                <a:gd name="connsiteX5" fmla="*/ 1216908 w 1478166"/>
                <a:gd name="connsiteY5" fmla="*/ 728770 h 1292535"/>
                <a:gd name="connsiteX6" fmla="*/ 1051904 w 1478166"/>
                <a:gd name="connsiteY6" fmla="*/ 831898 h 1292535"/>
                <a:gd name="connsiteX7" fmla="*/ 873149 w 1478166"/>
                <a:gd name="connsiteY7" fmla="*/ 880024 h 1292535"/>
                <a:gd name="connsiteX8" fmla="*/ 653143 w 1478166"/>
                <a:gd name="connsiteY8" fmla="*/ 845648 h 1292535"/>
                <a:gd name="connsiteX9" fmla="*/ 501889 w 1478166"/>
                <a:gd name="connsiteY9" fmla="*/ 728770 h 1292535"/>
                <a:gd name="connsiteX10" fmla="*/ 405636 w 1478166"/>
                <a:gd name="connsiteY10" fmla="*/ 550015 h 1292535"/>
                <a:gd name="connsiteX11" fmla="*/ 391886 w 1478166"/>
                <a:gd name="connsiteY11" fmla="*/ 336884 h 1292535"/>
                <a:gd name="connsiteX12" fmla="*/ 419387 w 1478166"/>
                <a:gd name="connsiteY12" fmla="*/ 185630 h 1292535"/>
                <a:gd name="connsiteX13" fmla="*/ 556890 w 1478166"/>
                <a:gd name="connsiteY13" fmla="*/ 41251 h 1292535"/>
                <a:gd name="connsiteX14" fmla="*/ 0 w 1478166"/>
                <a:gd name="connsiteY14" fmla="*/ 0 h 1292535"/>
                <a:gd name="connsiteX15" fmla="*/ 6875 w 1478166"/>
                <a:gd name="connsiteY15" fmla="*/ 1292535 h 12925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478166" h="1292535">
                  <a:moveTo>
                    <a:pt x="6875" y="1292535"/>
                  </a:moveTo>
                  <a:lnTo>
                    <a:pt x="1478166" y="1292535"/>
                  </a:lnTo>
                  <a:lnTo>
                    <a:pt x="1471290" y="371260"/>
                  </a:lnTo>
                  <a:lnTo>
                    <a:pt x="1333787" y="378135"/>
                  </a:lnTo>
                  <a:lnTo>
                    <a:pt x="1306286" y="556890"/>
                  </a:lnTo>
                  <a:lnTo>
                    <a:pt x="1216908" y="728770"/>
                  </a:lnTo>
                  <a:lnTo>
                    <a:pt x="1051904" y="831898"/>
                  </a:lnTo>
                  <a:lnTo>
                    <a:pt x="873149" y="880024"/>
                  </a:lnTo>
                  <a:lnTo>
                    <a:pt x="653143" y="845648"/>
                  </a:lnTo>
                  <a:lnTo>
                    <a:pt x="501889" y="728770"/>
                  </a:lnTo>
                  <a:lnTo>
                    <a:pt x="405636" y="550015"/>
                  </a:lnTo>
                  <a:lnTo>
                    <a:pt x="391886" y="336884"/>
                  </a:lnTo>
                  <a:lnTo>
                    <a:pt x="419387" y="185630"/>
                  </a:lnTo>
                  <a:lnTo>
                    <a:pt x="556890" y="41251"/>
                  </a:lnTo>
                  <a:lnTo>
                    <a:pt x="0" y="0"/>
                  </a:lnTo>
                  <a:cubicBezTo>
                    <a:pt x="2292" y="435429"/>
                    <a:pt x="4583" y="870857"/>
                    <a:pt x="6875" y="1292535"/>
                  </a:cubicBezTo>
                  <a:close/>
                </a:path>
              </a:pathLst>
            </a:custGeom>
            <a:solidFill>
              <a:schemeClr val="bg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e-DE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107" charset="0"/>
                <a:ea typeface="ＭＳ Ｐゴシック" pitchFamily="-107" charset="-128"/>
                <a:cs typeface="ＭＳ Ｐゴシック" pitchFamily="-107" charset="-128"/>
              </a:endParaRPr>
            </a:p>
          </p:txBody>
        </p:sp>
      </p:grpSp>
      <p:sp>
        <p:nvSpPr>
          <p:cNvPr id="13" name="Rechteck 12">
            <a:extLst>
              <a:ext uri="{FF2B5EF4-FFF2-40B4-BE49-F238E27FC236}">
                <a16:creationId xmlns:a16="http://schemas.microsoft.com/office/drawing/2014/main" id="{C65413F4-BB37-6DE2-10DE-CE5A31B1437E}"/>
              </a:ext>
            </a:extLst>
          </p:cNvPr>
          <p:cNvSpPr/>
          <p:nvPr/>
        </p:nvSpPr>
        <p:spPr bwMode="auto">
          <a:xfrm>
            <a:off x="5333346" y="1783518"/>
            <a:ext cx="2106234" cy="2018524"/>
          </a:xfrm>
          <a:prstGeom prst="rect">
            <a:avLst/>
          </a:prstGeom>
          <a:noFill/>
          <a:ln w="25400">
            <a:solidFill>
              <a:schemeClr val="accent2"/>
            </a:solidFill>
            <a:miter lim="800000"/>
            <a:headEnd/>
            <a:tailEnd/>
          </a:ln>
        </p:spPr>
        <p:txBody>
          <a:bodyPr wrap="square" lIns="67500" tIns="32400" rIns="67500" bIns="32400" anchor="ctr">
            <a:noAutofit/>
          </a:bodyPr>
          <a:lstStyle/>
          <a:p>
            <a:pPr eaLnBrk="0" hangingPunct="0"/>
            <a:endParaRPr lang="de-DE" sz="1350">
              <a:latin typeface="Calibri"/>
            </a:endParaRPr>
          </a:p>
        </p:txBody>
      </p:sp>
      <p:sp>
        <p:nvSpPr>
          <p:cNvPr id="14" name="Text Box 59">
            <a:extLst>
              <a:ext uri="{FF2B5EF4-FFF2-40B4-BE49-F238E27FC236}">
                <a16:creationId xmlns:a16="http://schemas.microsoft.com/office/drawing/2014/main" id="{A471DD19-B686-7BAD-C3DB-8CB46F16B2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6905" y="1963755"/>
            <a:ext cx="1155573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9pPr>
          </a:lstStyle>
          <a:p>
            <a:r>
              <a:rPr lang="de-DE" sz="1350" b="1" dirty="0">
                <a:solidFill>
                  <a:schemeClr val="accent2"/>
                </a:solidFill>
                <a:latin typeface="Calibri"/>
                <a:cs typeface="Calibri"/>
              </a:rPr>
              <a:t>Identifikation</a:t>
            </a:r>
          </a:p>
        </p:txBody>
      </p:sp>
      <p:sp>
        <p:nvSpPr>
          <p:cNvPr id="15" name="Line 63">
            <a:extLst>
              <a:ext uri="{FF2B5EF4-FFF2-40B4-BE49-F238E27FC236}">
                <a16:creationId xmlns:a16="http://schemas.microsoft.com/office/drawing/2014/main" id="{BD2BB7C9-2D9B-848F-AFCD-088662CF1103}"/>
              </a:ext>
            </a:extLst>
          </p:cNvPr>
          <p:cNvSpPr>
            <a:spLocks noChangeShapeType="1"/>
          </p:cNvSpPr>
          <p:nvPr/>
        </p:nvSpPr>
        <p:spPr bwMode="auto">
          <a:xfrm>
            <a:off x="3735718" y="2263446"/>
            <a:ext cx="1590827" cy="0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de-DE" sz="1800">
              <a:latin typeface="Calibri"/>
              <a:cs typeface="Calibri"/>
            </a:endParaRPr>
          </a:p>
        </p:txBody>
      </p:sp>
      <p:grpSp>
        <p:nvGrpSpPr>
          <p:cNvPr id="16" name="Gruppieren 15">
            <a:extLst>
              <a:ext uri="{FF2B5EF4-FFF2-40B4-BE49-F238E27FC236}">
                <a16:creationId xmlns:a16="http://schemas.microsoft.com/office/drawing/2014/main" id="{9AB8BC38-F787-6C94-604F-79D65C2F2379}"/>
              </a:ext>
            </a:extLst>
          </p:cNvPr>
          <p:cNvGrpSpPr/>
          <p:nvPr/>
        </p:nvGrpSpPr>
        <p:grpSpPr>
          <a:xfrm>
            <a:off x="5603491" y="2013406"/>
            <a:ext cx="1470741" cy="1636481"/>
            <a:chOff x="8654078" y="2200293"/>
            <a:chExt cx="1470741" cy="1636481"/>
          </a:xfrm>
        </p:grpSpPr>
        <p:graphicFrame>
          <p:nvGraphicFramePr>
            <p:cNvPr id="17" name="Object 1029">
              <a:extLst>
                <a:ext uri="{FF2B5EF4-FFF2-40B4-BE49-F238E27FC236}">
                  <a16:creationId xmlns:a16="http://schemas.microsoft.com/office/drawing/2014/main" id="{A3746FA8-70AF-1207-F825-2CB124948C4B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8654078" y="2200293"/>
            <a:ext cx="1103743" cy="16364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lip" r:id="rId4" imgW="3005750" imgH="3470495" progId="">
                    <p:embed/>
                  </p:oleObj>
                </mc:Choice>
                <mc:Fallback>
                  <p:oleObj name="Clip" r:id="rId4" imgW="3005750" imgH="3470495" progId="">
                    <p:embed/>
                    <p:pic>
                      <p:nvPicPr>
                        <p:cNvPr id="80" name="Object 1029">
                          <a:extLst>
                            <a:ext uri="{FF2B5EF4-FFF2-40B4-BE49-F238E27FC236}">
                              <a16:creationId xmlns:a16="http://schemas.microsoft.com/office/drawing/2014/main" id="{42F9C6F8-FAD4-BE43-88FD-DD1AAF003BD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654078" y="2200293"/>
                          <a:ext cx="1103743" cy="163648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=""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" name="Zylinder 17">
              <a:extLst>
                <a:ext uri="{FF2B5EF4-FFF2-40B4-BE49-F238E27FC236}">
                  <a16:creationId xmlns:a16="http://schemas.microsoft.com/office/drawing/2014/main" id="{EDEF9FAB-0883-BE56-3145-F66EAC64ADF3}"/>
                </a:ext>
              </a:extLst>
            </p:cNvPr>
            <p:cNvSpPr/>
            <p:nvPr/>
          </p:nvSpPr>
          <p:spPr bwMode="auto">
            <a:xfrm>
              <a:off x="9390823" y="2880312"/>
              <a:ext cx="733996" cy="825745"/>
            </a:xfrm>
            <a:prstGeom prst="can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68580" tIns="34290" rIns="68580" bIns="34290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685800" eaLnBrk="0" hangingPunct="0"/>
              <a:r>
                <a:rPr lang="de-DE" sz="1350" dirty="0">
                  <a:latin typeface="Calibri"/>
                  <a:ea typeface="ＭＳ Ｐゴシック" pitchFamily="-65" charset="-128"/>
                  <a:cs typeface="ＭＳ Ｐゴシック" pitchFamily="-65" charset="-128"/>
                </a:rPr>
                <a:t>Daten</a:t>
              </a:r>
            </a:p>
          </p:txBody>
        </p:sp>
      </p:grpSp>
      <p:sp>
        <p:nvSpPr>
          <p:cNvPr id="19" name="Text Box 56">
            <a:extLst>
              <a:ext uri="{FF2B5EF4-FFF2-40B4-BE49-F238E27FC236}">
                <a16:creationId xmlns:a16="http://schemas.microsoft.com/office/drawing/2014/main" id="{F03F0032-45FB-583C-BEBD-A907C27CA6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34800" y="4403746"/>
            <a:ext cx="1254693" cy="2804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36000" tIns="36000" rIns="36000" bIns="3600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9pPr>
          </a:lstStyle>
          <a:p>
            <a:pPr algn="r"/>
            <a:r>
              <a:rPr lang="de-DE" sz="1350" dirty="0">
                <a:latin typeface="Calibri"/>
              </a:rPr>
              <a:t>Dienstnutzerin N</a:t>
            </a:r>
          </a:p>
        </p:txBody>
      </p:sp>
      <p:sp>
        <p:nvSpPr>
          <p:cNvPr id="20" name="Text Box 61">
            <a:extLst>
              <a:ext uri="{FF2B5EF4-FFF2-40B4-BE49-F238E27FC236}">
                <a16:creationId xmlns:a16="http://schemas.microsoft.com/office/drawing/2014/main" id="{C0D25EB4-7DAA-C317-9536-796080A358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8799" y="3935543"/>
            <a:ext cx="1880694" cy="2804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36000" tIns="36000" rIns="36000" bIns="3600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9pPr>
          </a:lstStyle>
          <a:p>
            <a:pPr algn="r" eaLnBrk="1" hangingPunct="1"/>
            <a:r>
              <a:rPr lang="de-DE" sz="1350" dirty="0">
                <a:solidFill>
                  <a:srgbClr val="008000"/>
                </a:solidFill>
                <a:latin typeface="Calibri"/>
                <a:sym typeface="Symbol" charset="0"/>
              </a:rPr>
              <a:t>Verfügungsbereich von N</a:t>
            </a:r>
          </a:p>
        </p:txBody>
      </p:sp>
      <p:sp>
        <p:nvSpPr>
          <p:cNvPr id="21" name="Text Box 64">
            <a:extLst>
              <a:ext uri="{FF2B5EF4-FFF2-40B4-BE49-F238E27FC236}">
                <a16:creationId xmlns:a16="http://schemas.microsoft.com/office/drawing/2014/main" id="{90680103-D125-40B1-C2F6-23CEABDF20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25123" y="3417947"/>
            <a:ext cx="1964370" cy="2804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36000" tIns="36000" rIns="36000" bIns="3600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9pPr>
          </a:lstStyle>
          <a:p>
            <a:pPr algn="r"/>
            <a:r>
              <a:rPr lang="de-DE" sz="1350" dirty="0">
                <a:solidFill>
                  <a:schemeClr val="accent2"/>
                </a:solidFill>
                <a:latin typeface="Calibri"/>
              </a:rPr>
              <a:t>Geschützter Bereich von A</a:t>
            </a: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40A5D8C6-029F-D0C6-F85B-DCC204BD64EE}"/>
              </a:ext>
            </a:extLst>
          </p:cNvPr>
          <p:cNvSpPr/>
          <p:nvPr/>
        </p:nvSpPr>
        <p:spPr bwMode="auto">
          <a:xfrm>
            <a:off x="1951055" y="2991952"/>
            <a:ext cx="2484276" cy="810090"/>
          </a:xfrm>
          <a:prstGeom prst="rect">
            <a:avLst/>
          </a:prstGeom>
          <a:noFill/>
          <a:ln w="254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 eaLnBrk="0" hangingPunct="0"/>
            <a:endParaRPr lang="de-DE" sz="1800"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F88A4548-0EBA-D5DA-7962-1F6328518DDB}"/>
              </a:ext>
            </a:extLst>
          </p:cNvPr>
          <p:cNvSpPr/>
          <p:nvPr/>
        </p:nvSpPr>
        <p:spPr bwMode="auto">
          <a:xfrm>
            <a:off x="1627019" y="2881215"/>
            <a:ext cx="2916324" cy="1458162"/>
          </a:xfrm>
          <a:prstGeom prst="rect">
            <a:avLst/>
          </a:prstGeom>
          <a:noFill/>
          <a:ln w="25400" cap="flat" cmpd="sng" algn="ctr">
            <a:solidFill>
              <a:srgbClr val="008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 eaLnBrk="0" hangingPunct="0"/>
            <a:endParaRPr lang="de-DE" sz="1800"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</p:txBody>
      </p:sp>
      <p:pic>
        <p:nvPicPr>
          <p:cNvPr id="24" name="Picture 41">
            <a:extLst>
              <a:ext uri="{FF2B5EF4-FFF2-40B4-BE49-F238E27FC236}">
                <a16:creationId xmlns:a16="http://schemas.microsoft.com/office/drawing/2014/main" id="{D1B9A08A-9470-5AD9-A1BE-E7B2B09D89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312660" y="3935543"/>
            <a:ext cx="628650" cy="5929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5" name="Line 63">
            <a:extLst>
              <a:ext uri="{FF2B5EF4-FFF2-40B4-BE49-F238E27FC236}">
                <a16:creationId xmlns:a16="http://schemas.microsoft.com/office/drawing/2014/main" id="{93B84CC6-FC7C-86F1-4551-D7572E790379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165117" y="3320704"/>
            <a:ext cx="2558813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de-DE" sz="1800" dirty="0">
              <a:latin typeface="Calibri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BAA00C8-9F57-BF8C-952D-8EC41452E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47791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95089EBE-A063-7414-F064-697422FFFB7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7200" y="914400"/>
            <a:ext cx="8458200" cy="4114800"/>
          </a:xfrm>
        </p:spPr>
        <p:txBody>
          <a:bodyPr/>
          <a:lstStyle/>
          <a:p>
            <a:r>
              <a:rPr lang="de-DE" dirty="0"/>
              <a:t>Voraussetzung: </a:t>
            </a:r>
            <a:r>
              <a:rPr lang="de-DE" dirty="0">
                <a:solidFill>
                  <a:schemeClr val="tx1"/>
                </a:solidFill>
              </a:rPr>
              <a:t>Angreifer </a:t>
            </a:r>
          </a:p>
          <a:p>
            <a:pPr lvl="1"/>
            <a:r>
              <a:rPr lang="de-DE" dirty="0"/>
              <a:t>betreibt täuschend echte Webseite der Bank</a:t>
            </a:r>
          </a:p>
          <a:p>
            <a:pPr lvl="1"/>
            <a:r>
              <a:rPr lang="de-DE" dirty="0"/>
              <a:t>bewegt den Kunden zum Besuch dieser Seite</a:t>
            </a:r>
          </a:p>
          <a:p>
            <a:endParaRPr lang="de-DE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D7476416-3110-D358-4978-EA9CB52F9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87474"/>
            <a:ext cx="8458200" cy="769776"/>
          </a:xfrm>
        </p:spPr>
        <p:txBody>
          <a:bodyPr/>
          <a:lstStyle/>
          <a:p>
            <a:r>
              <a:rPr lang="de-DE" dirty="0"/>
              <a:t>Beispiel für eine Abbildung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A770A67C-C3D7-980C-B05E-9E0E13CA6F9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2195736" y="564561"/>
            <a:ext cx="6714008" cy="283369"/>
          </a:xfrm>
        </p:spPr>
        <p:txBody>
          <a:bodyPr/>
          <a:lstStyle/>
          <a:p>
            <a:r>
              <a:rPr lang="de-DE" dirty="0"/>
              <a:t>Name et al., 20xx, S. 340ff</a:t>
            </a:r>
          </a:p>
        </p:txBody>
      </p:sp>
      <p:sp>
        <p:nvSpPr>
          <p:cNvPr id="9" name="Text Box 4">
            <a:extLst>
              <a:ext uri="{FF2B5EF4-FFF2-40B4-BE49-F238E27FC236}">
                <a16:creationId xmlns:a16="http://schemas.microsoft.com/office/drawing/2014/main" id="{C7D79103-EFEF-B625-5970-D96C0ECC84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57350" y="1943100"/>
            <a:ext cx="632417" cy="3000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de-DE" sz="1350" dirty="0">
                <a:latin typeface="Calibri"/>
              </a:rPr>
              <a:t>Kunde</a:t>
            </a:r>
          </a:p>
        </p:txBody>
      </p:sp>
      <p:sp>
        <p:nvSpPr>
          <p:cNvPr id="10" name="Text Box 5">
            <a:extLst>
              <a:ext uri="{FF2B5EF4-FFF2-40B4-BE49-F238E27FC236}">
                <a16:creationId xmlns:a16="http://schemas.microsoft.com/office/drawing/2014/main" id="{6DE9115F-CE03-BB6F-F247-22ED63A2DF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00513" y="1943100"/>
            <a:ext cx="838499" cy="3000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de-DE" sz="1350" dirty="0">
                <a:latin typeface="Calibri"/>
              </a:rPr>
              <a:t>Angreifer</a:t>
            </a:r>
          </a:p>
        </p:txBody>
      </p:sp>
      <p:sp>
        <p:nvSpPr>
          <p:cNvPr id="11" name="Text Box 6">
            <a:extLst>
              <a:ext uri="{FF2B5EF4-FFF2-40B4-BE49-F238E27FC236}">
                <a16:creationId xmlns:a16="http://schemas.microsoft.com/office/drawing/2014/main" id="{B404F551-7B82-EC67-13EB-D63F7B4E13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09386" y="1953816"/>
            <a:ext cx="532518" cy="3000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de-DE" sz="1350" dirty="0">
                <a:latin typeface="Calibri"/>
              </a:rPr>
              <a:t>Bank</a:t>
            </a:r>
          </a:p>
        </p:txBody>
      </p:sp>
      <p:sp>
        <p:nvSpPr>
          <p:cNvPr id="12" name="Line 10">
            <a:extLst>
              <a:ext uri="{FF2B5EF4-FFF2-40B4-BE49-F238E27FC236}">
                <a16:creationId xmlns:a16="http://schemas.microsoft.com/office/drawing/2014/main" id="{47CB5E38-86B3-112B-F43F-1F64B153E9B5}"/>
              </a:ext>
            </a:extLst>
          </p:cNvPr>
          <p:cNvSpPr>
            <a:spLocks noChangeShapeType="1"/>
          </p:cNvSpPr>
          <p:nvPr/>
        </p:nvSpPr>
        <p:spPr bwMode="auto">
          <a:xfrm>
            <a:off x="1979712" y="3371850"/>
            <a:ext cx="24574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de-DE" sz="1350" dirty="0">
              <a:latin typeface="Calibri"/>
            </a:endParaRPr>
          </a:p>
        </p:txBody>
      </p:sp>
      <p:sp>
        <p:nvSpPr>
          <p:cNvPr id="13" name="Rectangle 11">
            <a:extLst>
              <a:ext uri="{FF2B5EF4-FFF2-40B4-BE49-F238E27FC236}">
                <a16:creationId xmlns:a16="http://schemas.microsoft.com/office/drawing/2014/main" id="{200A6D44-466E-B43E-F38E-1B59901BEC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4740" y="3257550"/>
            <a:ext cx="1891030" cy="288541"/>
          </a:xfrm>
          <a:prstGeom prst="rect">
            <a:avLst/>
          </a:prstGeom>
          <a:solidFill>
            <a:schemeClr val="accent5"/>
          </a:solidFill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de-DE" sz="1275" dirty="0">
                <a:latin typeface="Calibri"/>
              </a:rPr>
              <a:t>Kunde startet Transaktion</a:t>
            </a:r>
          </a:p>
        </p:txBody>
      </p:sp>
      <p:sp>
        <p:nvSpPr>
          <p:cNvPr id="14" name="Line 12">
            <a:extLst>
              <a:ext uri="{FF2B5EF4-FFF2-40B4-BE49-F238E27FC236}">
                <a16:creationId xmlns:a16="http://schemas.microsoft.com/office/drawing/2014/main" id="{805DC23D-A8FA-8E2E-1CC5-38EEFD71A67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979712" y="3657600"/>
            <a:ext cx="24574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de-DE" sz="1350" dirty="0">
              <a:latin typeface="Calibri"/>
            </a:endParaRPr>
          </a:p>
        </p:txBody>
      </p:sp>
      <p:sp>
        <p:nvSpPr>
          <p:cNvPr id="15" name="Rectangle 13">
            <a:extLst>
              <a:ext uri="{FF2B5EF4-FFF2-40B4-BE49-F238E27FC236}">
                <a16:creationId xmlns:a16="http://schemas.microsoft.com/office/drawing/2014/main" id="{2E5CEC01-3DC0-243E-B471-888353D21B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4741" y="3543300"/>
            <a:ext cx="1333827" cy="288541"/>
          </a:xfrm>
          <a:prstGeom prst="rect">
            <a:avLst/>
          </a:prstGeom>
          <a:solidFill>
            <a:schemeClr val="accent5"/>
          </a:solidFill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de-DE" sz="1275" dirty="0">
                <a:latin typeface="Calibri"/>
              </a:rPr>
              <a:t>Anforderung TAN</a:t>
            </a:r>
          </a:p>
        </p:txBody>
      </p:sp>
      <p:sp>
        <p:nvSpPr>
          <p:cNvPr id="16" name="Line 14">
            <a:extLst>
              <a:ext uri="{FF2B5EF4-FFF2-40B4-BE49-F238E27FC236}">
                <a16:creationId xmlns:a16="http://schemas.microsoft.com/office/drawing/2014/main" id="{A26848E6-A12C-05C9-E2A9-EBB3E2FF83D1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0" y="4171950"/>
            <a:ext cx="2971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de-DE" sz="1275" dirty="0">
              <a:latin typeface="Calibri"/>
            </a:endParaRPr>
          </a:p>
        </p:txBody>
      </p:sp>
      <p:sp>
        <p:nvSpPr>
          <p:cNvPr id="17" name="Rectangle 15">
            <a:extLst>
              <a:ext uri="{FF2B5EF4-FFF2-40B4-BE49-F238E27FC236}">
                <a16:creationId xmlns:a16="http://schemas.microsoft.com/office/drawing/2014/main" id="{4DE311A9-DC78-1798-FEEE-43283E07CD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45832" y="4057650"/>
            <a:ext cx="2565639" cy="288541"/>
          </a:xfrm>
          <a:prstGeom prst="rect">
            <a:avLst/>
          </a:prstGeom>
          <a:solidFill>
            <a:schemeClr val="accent5"/>
          </a:solidFill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de-DE" sz="1275" dirty="0">
                <a:latin typeface="Calibri"/>
              </a:rPr>
              <a:t>Angreifer startet eigene Transaktion</a:t>
            </a:r>
          </a:p>
        </p:txBody>
      </p:sp>
      <p:sp>
        <p:nvSpPr>
          <p:cNvPr id="18" name="Line 16">
            <a:extLst>
              <a:ext uri="{FF2B5EF4-FFF2-40B4-BE49-F238E27FC236}">
                <a16:creationId xmlns:a16="http://schemas.microsoft.com/office/drawing/2014/main" id="{7250D4AF-E660-AEB9-0B84-A46CD691430C}"/>
              </a:ext>
            </a:extLst>
          </p:cNvPr>
          <p:cNvSpPr>
            <a:spLocks noChangeShapeType="1"/>
          </p:cNvSpPr>
          <p:nvPr/>
        </p:nvSpPr>
        <p:spPr bwMode="auto">
          <a:xfrm>
            <a:off x="1979712" y="3943350"/>
            <a:ext cx="24574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de-DE" sz="1350" dirty="0">
              <a:latin typeface="Calibri"/>
            </a:endParaRPr>
          </a:p>
        </p:txBody>
      </p:sp>
      <p:sp>
        <p:nvSpPr>
          <p:cNvPr id="19" name="Rectangle 17">
            <a:extLst>
              <a:ext uri="{FF2B5EF4-FFF2-40B4-BE49-F238E27FC236}">
                <a16:creationId xmlns:a16="http://schemas.microsoft.com/office/drawing/2014/main" id="{044BA210-144F-6FBA-B74E-1D83B36C26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4741" y="3829050"/>
            <a:ext cx="956416" cy="288541"/>
          </a:xfrm>
          <a:prstGeom prst="rect">
            <a:avLst/>
          </a:prstGeom>
          <a:solidFill>
            <a:schemeClr val="accent5"/>
          </a:solidFill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de-DE" sz="1275" dirty="0">
                <a:latin typeface="Calibri"/>
              </a:rPr>
              <a:t>Kunde: TAN</a:t>
            </a:r>
          </a:p>
        </p:txBody>
      </p:sp>
      <p:sp>
        <p:nvSpPr>
          <p:cNvPr id="20" name="Line 18">
            <a:extLst>
              <a:ext uri="{FF2B5EF4-FFF2-40B4-BE49-F238E27FC236}">
                <a16:creationId xmlns:a16="http://schemas.microsoft.com/office/drawing/2014/main" id="{3A48C8DE-EA29-0EA3-FBA5-39240F2C5FA9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0" y="4457700"/>
            <a:ext cx="2971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de-DE" sz="1275" dirty="0">
              <a:latin typeface="Calibri"/>
            </a:endParaRPr>
          </a:p>
        </p:txBody>
      </p:sp>
      <p:sp>
        <p:nvSpPr>
          <p:cNvPr id="21" name="Rectangle 19">
            <a:extLst>
              <a:ext uri="{FF2B5EF4-FFF2-40B4-BE49-F238E27FC236}">
                <a16:creationId xmlns:a16="http://schemas.microsoft.com/office/drawing/2014/main" id="{A2D70594-8361-C057-F20F-E00AF8ACF7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45831" y="4343400"/>
            <a:ext cx="1730730" cy="288541"/>
          </a:xfrm>
          <a:prstGeom prst="rect">
            <a:avLst/>
          </a:prstGeom>
          <a:solidFill>
            <a:schemeClr val="accent5"/>
          </a:solidFill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de-DE" sz="1275" dirty="0">
                <a:latin typeface="Calibri"/>
              </a:rPr>
              <a:t>nutzt abgefangene TAN</a:t>
            </a:r>
          </a:p>
        </p:txBody>
      </p:sp>
      <p:sp>
        <p:nvSpPr>
          <p:cNvPr id="22" name="Line 20">
            <a:extLst>
              <a:ext uri="{FF2B5EF4-FFF2-40B4-BE49-F238E27FC236}">
                <a16:creationId xmlns:a16="http://schemas.microsoft.com/office/drawing/2014/main" id="{3822D96C-CE41-8D11-C905-3FCC8967FDF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572000" y="4743450"/>
            <a:ext cx="2971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de-DE" sz="1275" dirty="0">
              <a:latin typeface="Calibri"/>
            </a:endParaRPr>
          </a:p>
        </p:txBody>
      </p:sp>
      <p:sp>
        <p:nvSpPr>
          <p:cNvPr id="23" name="Rectangle 21">
            <a:extLst>
              <a:ext uri="{FF2B5EF4-FFF2-40B4-BE49-F238E27FC236}">
                <a16:creationId xmlns:a16="http://schemas.microsoft.com/office/drawing/2014/main" id="{E5941FCF-E8E9-A7C4-419F-88DB1B53D5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43450" y="4629150"/>
            <a:ext cx="1371914" cy="288541"/>
          </a:xfrm>
          <a:prstGeom prst="rect">
            <a:avLst/>
          </a:prstGeom>
          <a:solidFill>
            <a:schemeClr val="accent5"/>
          </a:solidFill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de-DE" sz="1275" dirty="0">
                <a:latin typeface="Calibri"/>
              </a:rPr>
              <a:t>Bank: Bestätigung</a:t>
            </a:r>
          </a:p>
        </p:txBody>
      </p:sp>
      <p:sp>
        <p:nvSpPr>
          <p:cNvPr id="24" name="Line 22">
            <a:extLst>
              <a:ext uri="{FF2B5EF4-FFF2-40B4-BE49-F238E27FC236}">
                <a16:creationId xmlns:a16="http://schemas.microsoft.com/office/drawing/2014/main" id="{BD23CE52-156B-7519-813A-8A4D433C495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979712" y="4229100"/>
            <a:ext cx="24574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de-DE" sz="1350" dirty="0">
              <a:latin typeface="Calibri"/>
            </a:endParaRPr>
          </a:p>
        </p:txBody>
      </p:sp>
      <p:sp>
        <p:nvSpPr>
          <p:cNvPr id="25" name="Rectangle 23">
            <a:extLst>
              <a:ext uri="{FF2B5EF4-FFF2-40B4-BE49-F238E27FC236}">
                <a16:creationId xmlns:a16="http://schemas.microsoft.com/office/drawing/2014/main" id="{50171AF9-F510-8B01-9506-E014C9B19A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4741" y="4114800"/>
            <a:ext cx="1828899" cy="288541"/>
          </a:xfrm>
          <a:prstGeom prst="rect">
            <a:avLst/>
          </a:prstGeom>
          <a:solidFill>
            <a:schemeClr val="accent5"/>
          </a:solidFill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de-DE" sz="1275" dirty="0">
                <a:latin typeface="Calibri"/>
              </a:rPr>
              <a:t>Angreifer: »Bestätigung«</a:t>
            </a:r>
          </a:p>
        </p:txBody>
      </p:sp>
      <p:sp>
        <p:nvSpPr>
          <p:cNvPr id="26" name="Line 24">
            <a:extLst>
              <a:ext uri="{FF2B5EF4-FFF2-40B4-BE49-F238E27FC236}">
                <a16:creationId xmlns:a16="http://schemas.microsoft.com/office/drawing/2014/main" id="{304C2E18-44A7-D418-CDC8-DECB12F394CF}"/>
              </a:ext>
            </a:extLst>
          </p:cNvPr>
          <p:cNvSpPr>
            <a:spLocks noChangeShapeType="1"/>
          </p:cNvSpPr>
          <p:nvPr/>
        </p:nvSpPr>
        <p:spPr bwMode="auto">
          <a:xfrm>
            <a:off x="1943100" y="2743200"/>
            <a:ext cx="0" cy="2114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de-DE" sz="1350" dirty="0">
              <a:latin typeface="Calibri"/>
            </a:endParaRPr>
          </a:p>
        </p:txBody>
      </p:sp>
      <p:sp>
        <p:nvSpPr>
          <p:cNvPr id="27" name="Line 25">
            <a:extLst>
              <a:ext uri="{FF2B5EF4-FFF2-40B4-BE49-F238E27FC236}">
                <a16:creationId xmlns:a16="http://schemas.microsoft.com/office/drawing/2014/main" id="{7E117464-FD00-1F39-B3A4-C74AD7E420A4}"/>
              </a:ext>
            </a:extLst>
          </p:cNvPr>
          <p:cNvSpPr>
            <a:spLocks noChangeShapeType="1"/>
          </p:cNvSpPr>
          <p:nvPr/>
        </p:nvSpPr>
        <p:spPr bwMode="auto">
          <a:xfrm>
            <a:off x="7600950" y="2743200"/>
            <a:ext cx="0" cy="2114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de-DE" sz="1275" dirty="0">
              <a:latin typeface="Calibri"/>
            </a:endParaRPr>
          </a:p>
        </p:txBody>
      </p:sp>
      <p:sp>
        <p:nvSpPr>
          <p:cNvPr id="28" name="Line 27">
            <a:extLst>
              <a:ext uri="{FF2B5EF4-FFF2-40B4-BE49-F238E27FC236}">
                <a16:creationId xmlns:a16="http://schemas.microsoft.com/office/drawing/2014/main" id="{5B2C66D6-2A01-181A-5203-FB01AB74D9CB}"/>
              </a:ext>
            </a:extLst>
          </p:cNvPr>
          <p:cNvSpPr>
            <a:spLocks noChangeShapeType="1"/>
          </p:cNvSpPr>
          <p:nvPr/>
        </p:nvSpPr>
        <p:spPr bwMode="auto">
          <a:xfrm>
            <a:off x="1979712" y="3028950"/>
            <a:ext cx="24574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de-DE" sz="1350" dirty="0">
              <a:latin typeface="Calibri"/>
            </a:endParaRPr>
          </a:p>
        </p:txBody>
      </p:sp>
      <p:sp>
        <p:nvSpPr>
          <p:cNvPr id="29" name="Text Box 28">
            <a:extLst>
              <a:ext uri="{FF2B5EF4-FFF2-40B4-BE49-F238E27FC236}">
                <a16:creationId xmlns:a16="http://schemas.microsoft.com/office/drawing/2014/main" id="{4A34C34E-B9CA-6024-C236-F003FE3758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4741" y="2800350"/>
            <a:ext cx="2095445" cy="484748"/>
          </a:xfrm>
          <a:prstGeom prst="rect">
            <a:avLst/>
          </a:prstGeom>
          <a:solidFill>
            <a:schemeClr val="accent5"/>
          </a:solidFill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de-DE" sz="1275" dirty="0">
                <a:latin typeface="Calibri"/>
              </a:rPr>
              <a:t>Login bei der (falschen) Bank</a:t>
            </a:r>
          </a:p>
          <a:p>
            <a:r>
              <a:rPr lang="de-DE" sz="1275" dirty="0">
                <a:latin typeface="Calibri"/>
              </a:rPr>
              <a:t>Angreifer fängt Daten ab</a:t>
            </a:r>
          </a:p>
        </p:txBody>
      </p:sp>
      <p:sp>
        <p:nvSpPr>
          <p:cNvPr id="30" name="Line 24">
            <a:extLst>
              <a:ext uri="{FF2B5EF4-FFF2-40B4-BE49-F238E27FC236}">
                <a16:creationId xmlns:a16="http://schemas.microsoft.com/office/drawing/2014/main" id="{6C0787D3-2F76-1260-8165-0F8FC545F991}"/>
              </a:ext>
            </a:extLst>
          </p:cNvPr>
          <p:cNvSpPr>
            <a:spLocks noChangeShapeType="1"/>
          </p:cNvSpPr>
          <p:nvPr/>
        </p:nvSpPr>
        <p:spPr bwMode="auto">
          <a:xfrm>
            <a:off x="4517994" y="2895786"/>
            <a:ext cx="0" cy="199822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de-DE" sz="1275" dirty="0">
              <a:latin typeface="Calibri"/>
            </a:endParaRPr>
          </a:p>
        </p:txBody>
      </p:sp>
      <p:pic>
        <p:nvPicPr>
          <p:cNvPr id="31" name="Picture 7" descr="hacker">
            <a:extLst>
              <a:ext uri="{FF2B5EF4-FFF2-40B4-BE49-F238E27FC236}">
                <a16:creationId xmlns:a16="http://schemas.microsoft.com/office/drawing/2014/main" id="{1BB6526A-062A-02D9-27F2-95373523B5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212431" y="2228850"/>
            <a:ext cx="628650" cy="514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2" name="Picture 41">
            <a:extLst>
              <a:ext uri="{FF2B5EF4-FFF2-40B4-BE49-F238E27FC236}">
                <a16:creationId xmlns:a16="http://schemas.microsoft.com/office/drawing/2014/main" id="{18C94113-E732-47E1-F626-C8592F5255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628775" y="2232445"/>
            <a:ext cx="628650" cy="5929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33" name="Object 1027">
            <a:extLst>
              <a:ext uri="{FF2B5EF4-FFF2-40B4-BE49-F238E27FC236}">
                <a16:creationId xmlns:a16="http://schemas.microsoft.com/office/drawing/2014/main" id="{3FB73D52-488A-962D-63F0-9AFF5107144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365752" y="2194729"/>
          <a:ext cx="503445" cy="7462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4" imgW="3005750" imgH="3470495" progId="">
                  <p:embed/>
                </p:oleObj>
              </mc:Choice>
              <mc:Fallback>
                <p:oleObj name="Clip" r:id="rId4" imgW="3005750" imgH="3470495" progId="">
                  <p:embed/>
                  <p:pic>
                    <p:nvPicPr>
                      <p:cNvPr id="56" name="Object 1027">
                        <a:extLst>
                          <a:ext uri="{FF2B5EF4-FFF2-40B4-BE49-F238E27FC236}">
                            <a16:creationId xmlns:a16="http://schemas.microsoft.com/office/drawing/2014/main" id="{F6FBF811-22E5-AB46-BBF2-5570E883828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65752" y="2194729"/>
                        <a:ext cx="503445" cy="74628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4" name="Picture 2">
            <a:extLst>
              <a:ext uri="{FF2B5EF4-FFF2-40B4-BE49-F238E27FC236}">
                <a16:creationId xmlns:a16="http://schemas.microsoft.com/office/drawing/2014/main" id="{8F37FAE2-6DF4-36A4-285C-37C64D98CB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1314450" y="3543301"/>
            <a:ext cx="685800" cy="5941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64DA3E1-DE59-D0A6-7A81-2CA5CE9226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92060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79990FD4-9442-EC35-12C1-D79463680F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Arten von Pseudonymen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B3CC8A2B-D38A-892C-0DD7-6A0C569AE977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de-DE" dirty="0"/>
              <a:t>Pfitzmann, Waidner, Pfitzmann, 1990</a:t>
            </a:r>
          </a:p>
        </p:txBody>
      </p:sp>
      <p:sp>
        <p:nvSpPr>
          <p:cNvPr id="14" name="Rectangle 1029">
            <a:extLst>
              <a:ext uri="{FF2B5EF4-FFF2-40B4-BE49-F238E27FC236}">
                <a16:creationId xmlns:a16="http://schemas.microsoft.com/office/drawing/2014/main" id="{BDA273F8-C742-99EC-A231-85F1FFEF5B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0002" y="1907199"/>
            <a:ext cx="1806552" cy="325569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17872" tIns="58340" rIns="117872" bIns="58340">
            <a:prstTxWarp prst="textNoShape">
              <a:avLst/>
            </a:prstTxWarp>
            <a:spAutoFit/>
          </a:bodyPr>
          <a:lstStyle/>
          <a:p>
            <a:pPr defTabSz="1981200"/>
            <a:r>
              <a:rPr lang="de-DE" sz="1350" dirty="0">
                <a:solidFill>
                  <a:schemeClr val="hlink"/>
                </a:solidFill>
                <a:latin typeface="Calibri"/>
              </a:rPr>
              <a:t>Personenpseudonyme</a:t>
            </a:r>
          </a:p>
        </p:txBody>
      </p:sp>
      <p:sp>
        <p:nvSpPr>
          <p:cNvPr id="15" name="Rectangle 1030">
            <a:extLst>
              <a:ext uri="{FF2B5EF4-FFF2-40B4-BE49-F238E27FC236}">
                <a16:creationId xmlns:a16="http://schemas.microsoft.com/office/drawing/2014/main" id="{753FC0DA-57FB-CAE1-4418-0D969FE838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29719" y="1922594"/>
            <a:ext cx="1588224" cy="325569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17872" tIns="58340" rIns="117872" bIns="58340">
            <a:prstTxWarp prst="textNoShape">
              <a:avLst/>
            </a:prstTxWarp>
            <a:spAutoFit/>
          </a:bodyPr>
          <a:lstStyle/>
          <a:p>
            <a:pPr defTabSz="1981200"/>
            <a:r>
              <a:rPr lang="de-DE" sz="1350" dirty="0">
                <a:solidFill>
                  <a:schemeClr val="hlink"/>
                </a:solidFill>
                <a:latin typeface="Calibri"/>
              </a:rPr>
              <a:t>Rollenpseudonyme</a:t>
            </a:r>
          </a:p>
        </p:txBody>
      </p:sp>
      <p:sp>
        <p:nvSpPr>
          <p:cNvPr id="16" name="Rectangle 1031">
            <a:extLst>
              <a:ext uri="{FF2B5EF4-FFF2-40B4-BE49-F238E27FC236}">
                <a16:creationId xmlns:a16="http://schemas.microsoft.com/office/drawing/2014/main" id="{0E4FFB2D-B87A-C2B7-135A-3CECB8AFD7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37029" y="2734145"/>
            <a:ext cx="710868" cy="74106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17872" tIns="58340" rIns="117872" bIns="58340">
            <a:prstTxWarp prst="textNoShape">
              <a:avLst/>
            </a:prstTxWarp>
            <a:spAutoFit/>
          </a:bodyPr>
          <a:lstStyle/>
          <a:p>
            <a:pPr defTabSz="1981200"/>
            <a:r>
              <a:rPr lang="de-DE" sz="1350" dirty="0" err="1">
                <a:solidFill>
                  <a:schemeClr val="hlink"/>
                </a:solidFill>
                <a:latin typeface="Calibri"/>
              </a:rPr>
              <a:t>öffent</a:t>
            </a:r>
            <a:r>
              <a:rPr lang="de-DE" sz="1350" dirty="0">
                <a:solidFill>
                  <a:schemeClr val="hlink"/>
                </a:solidFill>
                <a:latin typeface="Calibri"/>
              </a:rPr>
              <a:t>-</a:t>
            </a:r>
          </a:p>
          <a:p>
            <a:pPr defTabSz="1981200"/>
            <a:r>
              <a:rPr lang="de-DE" sz="1350" dirty="0" err="1">
                <a:solidFill>
                  <a:schemeClr val="hlink"/>
                </a:solidFill>
                <a:latin typeface="Calibri"/>
              </a:rPr>
              <a:t>liche</a:t>
            </a:r>
            <a:endParaRPr lang="de-DE" sz="1350" dirty="0">
              <a:solidFill>
                <a:schemeClr val="hlink"/>
              </a:solidFill>
              <a:latin typeface="Calibri"/>
            </a:endParaRPr>
          </a:p>
          <a:p>
            <a:pPr defTabSz="1981200"/>
            <a:endParaRPr lang="de-DE" sz="1350" dirty="0">
              <a:solidFill>
                <a:schemeClr val="hlink"/>
              </a:solidFill>
              <a:latin typeface="Calibri"/>
            </a:endParaRPr>
          </a:p>
        </p:txBody>
      </p:sp>
      <p:sp>
        <p:nvSpPr>
          <p:cNvPr id="17" name="Rectangle 1032">
            <a:extLst>
              <a:ext uri="{FF2B5EF4-FFF2-40B4-BE49-F238E27FC236}">
                <a16:creationId xmlns:a16="http://schemas.microsoft.com/office/drawing/2014/main" id="{E17628D4-D1ED-7FCF-EBC1-73B506ECD7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80511" y="2734145"/>
            <a:ext cx="995113" cy="74106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17872" tIns="58340" rIns="117872" bIns="58340">
            <a:prstTxWarp prst="textNoShape">
              <a:avLst/>
            </a:prstTxWarp>
            <a:spAutoFit/>
          </a:bodyPr>
          <a:lstStyle/>
          <a:p>
            <a:pPr defTabSz="1981200"/>
            <a:r>
              <a:rPr lang="de-DE" sz="1350" dirty="0">
                <a:solidFill>
                  <a:schemeClr val="hlink"/>
                </a:solidFill>
                <a:latin typeface="Calibri"/>
              </a:rPr>
              <a:t>nicht-</a:t>
            </a:r>
          </a:p>
          <a:p>
            <a:pPr defTabSz="1981200"/>
            <a:r>
              <a:rPr lang="de-DE" sz="1350" dirty="0">
                <a:solidFill>
                  <a:schemeClr val="hlink"/>
                </a:solidFill>
                <a:latin typeface="Calibri"/>
              </a:rPr>
              <a:t>öffentliche</a:t>
            </a:r>
          </a:p>
          <a:p>
            <a:pPr defTabSz="1981200"/>
            <a:endParaRPr lang="de-DE" sz="1350" dirty="0">
              <a:solidFill>
                <a:schemeClr val="hlink"/>
              </a:solidFill>
              <a:latin typeface="Calibri"/>
            </a:endParaRPr>
          </a:p>
        </p:txBody>
      </p:sp>
      <p:sp>
        <p:nvSpPr>
          <p:cNvPr id="18" name="Rectangle 1033">
            <a:extLst>
              <a:ext uri="{FF2B5EF4-FFF2-40B4-BE49-F238E27FC236}">
                <a16:creationId xmlns:a16="http://schemas.microsoft.com/office/drawing/2014/main" id="{907D370A-5526-B9E3-1BE7-9F8B8ADE2C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28591" y="2734145"/>
            <a:ext cx="895277" cy="53331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17872" tIns="58340" rIns="117872" bIns="58340">
            <a:prstTxWarp prst="textNoShape">
              <a:avLst/>
            </a:prstTxWarp>
            <a:spAutoFit/>
          </a:bodyPr>
          <a:lstStyle/>
          <a:p>
            <a:pPr defTabSz="1981200"/>
            <a:r>
              <a:rPr lang="de-DE" sz="1350" dirty="0">
                <a:solidFill>
                  <a:schemeClr val="hlink"/>
                </a:solidFill>
                <a:latin typeface="Calibri"/>
              </a:rPr>
              <a:t>anonyme</a:t>
            </a:r>
          </a:p>
          <a:p>
            <a:pPr defTabSz="1981200"/>
            <a:endParaRPr lang="de-DE" sz="1350" dirty="0">
              <a:solidFill>
                <a:schemeClr val="hlink"/>
              </a:solidFill>
              <a:latin typeface="Calibri"/>
            </a:endParaRPr>
          </a:p>
        </p:txBody>
      </p:sp>
      <p:sp>
        <p:nvSpPr>
          <p:cNvPr id="19" name="Rectangle 1034">
            <a:extLst>
              <a:ext uri="{FF2B5EF4-FFF2-40B4-BE49-F238E27FC236}">
                <a16:creationId xmlns:a16="http://schemas.microsoft.com/office/drawing/2014/main" id="{A68C16F3-02CB-A7D8-40A5-8DB7DDE509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57911" y="2734144"/>
            <a:ext cx="1085971" cy="94881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17872" tIns="58340" rIns="117872" bIns="58340">
            <a:prstTxWarp prst="textNoShape">
              <a:avLst/>
            </a:prstTxWarp>
            <a:spAutoFit/>
          </a:bodyPr>
          <a:lstStyle/>
          <a:p>
            <a:pPr defTabSz="1981200"/>
            <a:r>
              <a:rPr lang="de-DE" sz="1350" dirty="0">
                <a:solidFill>
                  <a:schemeClr val="hlink"/>
                </a:solidFill>
                <a:latin typeface="Calibri"/>
              </a:rPr>
              <a:t>Geschäfts-</a:t>
            </a:r>
          </a:p>
          <a:p>
            <a:pPr defTabSz="1981200"/>
            <a:r>
              <a:rPr lang="de-DE" sz="1350" dirty="0">
                <a:solidFill>
                  <a:schemeClr val="hlink"/>
                </a:solidFill>
                <a:latin typeface="Calibri"/>
              </a:rPr>
              <a:t>beziehungs-</a:t>
            </a:r>
          </a:p>
          <a:p>
            <a:pPr defTabSz="1981200"/>
            <a:r>
              <a:rPr lang="de-DE" sz="1350" dirty="0">
                <a:solidFill>
                  <a:schemeClr val="hlink"/>
                </a:solidFill>
                <a:latin typeface="Calibri"/>
              </a:rPr>
              <a:t>pseudonym</a:t>
            </a:r>
          </a:p>
          <a:p>
            <a:pPr defTabSz="1981200"/>
            <a:endParaRPr lang="de-DE" sz="1350" dirty="0">
              <a:solidFill>
                <a:schemeClr val="hlink"/>
              </a:solidFill>
              <a:latin typeface="Calibri"/>
            </a:endParaRPr>
          </a:p>
        </p:txBody>
      </p:sp>
      <p:sp>
        <p:nvSpPr>
          <p:cNvPr id="20" name="Rectangle 1035">
            <a:extLst>
              <a:ext uri="{FF2B5EF4-FFF2-40B4-BE49-F238E27FC236}">
                <a16:creationId xmlns:a16="http://schemas.microsoft.com/office/drawing/2014/main" id="{4AA2FC42-2A38-25A2-A27F-A49EF3ADD9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31349" y="2734145"/>
            <a:ext cx="1173559" cy="74106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17872" tIns="58340" rIns="117872" bIns="58340">
            <a:prstTxWarp prst="textNoShape">
              <a:avLst/>
            </a:prstTxWarp>
            <a:spAutoFit/>
          </a:bodyPr>
          <a:lstStyle/>
          <a:p>
            <a:pPr defTabSz="1981200"/>
            <a:r>
              <a:rPr lang="de-DE" sz="1350" dirty="0">
                <a:solidFill>
                  <a:schemeClr val="hlink"/>
                </a:solidFill>
                <a:latin typeface="Calibri"/>
              </a:rPr>
              <a:t>Transaktions-</a:t>
            </a:r>
          </a:p>
          <a:p>
            <a:pPr defTabSz="1981200"/>
            <a:r>
              <a:rPr lang="de-DE" sz="1350" dirty="0">
                <a:solidFill>
                  <a:schemeClr val="hlink"/>
                </a:solidFill>
                <a:latin typeface="Calibri"/>
              </a:rPr>
              <a:t>pseudonym</a:t>
            </a:r>
          </a:p>
          <a:p>
            <a:pPr defTabSz="1981200"/>
            <a:endParaRPr lang="de-DE" sz="1350" dirty="0">
              <a:solidFill>
                <a:schemeClr val="hlink"/>
              </a:solidFill>
              <a:latin typeface="Calibri"/>
            </a:endParaRPr>
          </a:p>
        </p:txBody>
      </p:sp>
      <p:sp>
        <p:nvSpPr>
          <p:cNvPr id="21" name="Line 1036">
            <a:extLst>
              <a:ext uri="{FF2B5EF4-FFF2-40B4-BE49-F238E27FC236}">
                <a16:creationId xmlns:a16="http://schemas.microsoft.com/office/drawing/2014/main" id="{E21500DB-F5B5-F13E-1C89-45C4E1969555}"/>
              </a:ext>
            </a:extLst>
          </p:cNvPr>
          <p:cNvSpPr>
            <a:spLocks noChangeShapeType="1"/>
          </p:cNvSpPr>
          <p:nvPr/>
        </p:nvSpPr>
        <p:spPr bwMode="auto">
          <a:xfrm>
            <a:off x="4754414" y="1379361"/>
            <a:ext cx="1303061" cy="544333"/>
          </a:xfrm>
          <a:prstGeom prst="line">
            <a:avLst/>
          </a:prstGeom>
          <a:noFill/>
          <a:ln w="12700" cap="rnd">
            <a:solidFill>
              <a:srgbClr val="7F7F7F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de-DE" sz="1800" dirty="0">
              <a:latin typeface="Calibri"/>
            </a:endParaRPr>
          </a:p>
        </p:txBody>
      </p:sp>
      <p:sp>
        <p:nvSpPr>
          <p:cNvPr id="22" name="Line 1037">
            <a:extLst>
              <a:ext uri="{FF2B5EF4-FFF2-40B4-BE49-F238E27FC236}">
                <a16:creationId xmlns:a16="http://schemas.microsoft.com/office/drawing/2014/main" id="{C635BCC2-E0A2-B98A-1951-CCCC8BCD030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426060" y="1379361"/>
            <a:ext cx="1323955" cy="544333"/>
          </a:xfrm>
          <a:prstGeom prst="line">
            <a:avLst/>
          </a:prstGeom>
          <a:noFill/>
          <a:ln w="12700" cap="rnd">
            <a:solidFill>
              <a:srgbClr val="7F7F7F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de-DE" sz="1800" dirty="0">
              <a:latin typeface="Calibri"/>
            </a:endParaRPr>
          </a:p>
        </p:txBody>
      </p:sp>
      <p:sp>
        <p:nvSpPr>
          <p:cNvPr id="23" name="Line 1040">
            <a:extLst>
              <a:ext uri="{FF2B5EF4-FFF2-40B4-BE49-F238E27FC236}">
                <a16:creationId xmlns:a16="http://schemas.microsoft.com/office/drawing/2014/main" id="{14C4528F-48B4-C8F1-4F69-5FCEA61D5FF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116401" y="2229400"/>
            <a:ext cx="1168907" cy="519041"/>
          </a:xfrm>
          <a:prstGeom prst="line">
            <a:avLst/>
          </a:prstGeom>
          <a:noFill/>
          <a:ln w="12700" cap="rnd">
            <a:solidFill>
              <a:schemeClr val="tx1">
                <a:lumMod val="50000"/>
                <a:lumOff val="50000"/>
              </a:schemeClr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de-DE" sz="1800" dirty="0">
              <a:latin typeface="Calibri"/>
            </a:endParaRPr>
          </a:p>
        </p:txBody>
      </p:sp>
      <p:sp>
        <p:nvSpPr>
          <p:cNvPr id="24" name="Line 1041">
            <a:extLst>
              <a:ext uri="{FF2B5EF4-FFF2-40B4-BE49-F238E27FC236}">
                <a16:creationId xmlns:a16="http://schemas.microsoft.com/office/drawing/2014/main" id="{4A4BD073-0089-B287-960A-D36E3D98F41B}"/>
              </a:ext>
            </a:extLst>
          </p:cNvPr>
          <p:cNvSpPr>
            <a:spLocks noChangeShapeType="1"/>
          </p:cNvSpPr>
          <p:nvPr/>
        </p:nvSpPr>
        <p:spPr bwMode="auto">
          <a:xfrm>
            <a:off x="3285308" y="2229400"/>
            <a:ext cx="0" cy="519041"/>
          </a:xfrm>
          <a:prstGeom prst="line">
            <a:avLst/>
          </a:prstGeom>
          <a:noFill/>
          <a:ln w="12700" cap="rnd">
            <a:solidFill>
              <a:schemeClr val="tx1">
                <a:lumMod val="50000"/>
                <a:lumOff val="50000"/>
              </a:schemeClr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de-DE" sz="1800" dirty="0">
              <a:latin typeface="Calibri"/>
            </a:endParaRPr>
          </a:p>
        </p:txBody>
      </p:sp>
      <p:sp>
        <p:nvSpPr>
          <p:cNvPr id="25" name="Line 1042">
            <a:extLst>
              <a:ext uri="{FF2B5EF4-FFF2-40B4-BE49-F238E27FC236}">
                <a16:creationId xmlns:a16="http://schemas.microsoft.com/office/drawing/2014/main" id="{730CF9E7-B797-EF0E-EF78-852F6C0BD7CC}"/>
              </a:ext>
            </a:extLst>
          </p:cNvPr>
          <p:cNvSpPr>
            <a:spLocks noChangeShapeType="1"/>
          </p:cNvSpPr>
          <p:nvPr/>
        </p:nvSpPr>
        <p:spPr bwMode="auto">
          <a:xfrm>
            <a:off x="3289707" y="2229400"/>
            <a:ext cx="1112825" cy="466256"/>
          </a:xfrm>
          <a:prstGeom prst="line">
            <a:avLst/>
          </a:prstGeom>
          <a:noFill/>
          <a:ln w="12700" cap="rnd">
            <a:solidFill>
              <a:schemeClr val="tx1">
                <a:lumMod val="50000"/>
                <a:lumOff val="50000"/>
              </a:schemeClr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de-DE" sz="1800" dirty="0">
              <a:latin typeface="Calibri"/>
            </a:endParaRPr>
          </a:p>
        </p:txBody>
      </p:sp>
      <p:sp>
        <p:nvSpPr>
          <p:cNvPr id="26" name="Line 1043">
            <a:extLst>
              <a:ext uri="{FF2B5EF4-FFF2-40B4-BE49-F238E27FC236}">
                <a16:creationId xmlns:a16="http://schemas.microsoft.com/office/drawing/2014/main" id="{63628EC2-C2DE-35DB-BD9A-85BBAA08D55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624221" y="2229400"/>
            <a:ext cx="779638" cy="519041"/>
          </a:xfrm>
          <a:prstGeom prst="line">
            <a:avLst/>
          </a:prstGeom>
          <a:noFill/>
          <a:ln w="12700" cap="rnd">
            <a:solidFill>
              <a:schemeClr val="tx1">
                <a:lumMod val="50000"/>
                <a:lumOff val="50000"/>
              </a:schemeClr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de-DE" sz="1800" dirty="0">
              <a:latin typeface="Calibri"/>
            </a:endParaRPr>
          </a:p>
        </p:txBody>
      </p:sp>
      <p:sp>
        <p:nvSpPr>
          <p:cNvPr id="27" name="Line 1044">
            <a:extLst>
              <a:ext uri="{FF2B5EF4-FFF2-40B4-BE49-F238E27FC236}">
                <a16:creationId xmlns:a16="http://schemas.microsoft.com/office/drawing/2014/main" id="{F0F31095-567B-047E-98B7-4EF4AA108B2C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8257" y="2229400"/>
            <a:ext cx="722457" cy="519041"/>
          </a:xfrm>
          <a:prstGeom prst="line">
            <a:avLst/>
          </a:prstGeom>
          <a:noFill/>
          <a:ln w="12700" cap="rnd">
            <a:solidFill>
              <a:schemeClr val="tx1">
                <a:lumMod val="50000"/>
                <a:lumOff val="50000"/>
              </a:schemeClr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de-DE" sz="1800" dirty="0">
              <a:latin typeface="Calibri"/>
            </a:endParaRPr>
          </a:p>
        </p:txBody>
      </p:sp>
      <p:sp>
        <p:nvSpPr>
          <p:cNvPr id="28" name="Rectangle 1029">
            <a:extLst>
              <a:ext uri="{FF2B5EF4-FFF2-40B4-BE49-F238E27FC236}">
                <a16:creationId xmlns:a16="http://schemas.microsoft.com/office/drawing/2014/main" id="{24BBE3F5-3B88-EAB4-9B76-E984122953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68310" y="1072555"/>
            <a:ext cx="1144256" cy="325569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17872" tIns="58340" rIns="117872" bIns="58340">
            <a:prstTxWarp prst="textNoShape">
              <a:avLst/>
            </a:prstTxWarp>
            <a:spAutoFit/>
          </a:bodyPr>
          <a:lstStyle/>
          <a:p>
            <a:pPr defTabSz="1981200"/>
            <a:r>
              <a:rPr lang="de-DE" sz="1350" dirty="0">
                <a:solidFill>
                  <a:schemeClr val="hlink"/>
                </a:solidFill>
                <a:latin typeface="Calibri"/>
              </a:rPr>
              <a:t>Pseudonyme</a:t>
            </a:r>
          </a:p>
        </p:txBody>
      </p:sp>
      <p:grpSp>
        <p:nvGrpSpPr>
          <p:cNvPr id="29" name="Gruppierung 2">
            <a:extLst>
              <a:ext uri="{FF2B5EF4-FFF2-40B4-BE49-F238E27FC236}">
                <a16:creationId xmlns:a16="http://schemas.microsoft.com/office/drawing/2014/main" id="{6CD89BBF-D965-003D-A5CE-81D818EBB20D}"/>
              </a:ext>
            </a:extLst>
          </p:cNvPr>
          <p:cNvGrpSpPr/>
          <p:nvPr/>
        </p:nvGrpSpPr>
        <p:grpSpPr>
          <a:xfrm>
            <a:off x="1493658" y="3543858"/>
            <a:ext cx="6264696" cy="1026114"/>
            <a:chOff x="467544" y="4725144"/>
            <a:chExt cx="8352928" cy="1368152"/>
          </a:xfrm>
        </p:grpSpPr>
        <p:sp>
          <p:nvSpPr>
            <p:cNvPr id="30" name="Rechteck 29">
              <a:extLst>
                <a:ext uri="{FF2B5EF4-FFF2-40B4-BE49-F238E27FC236}">
                  <a16:creationId xmlns:a16="http://schemas.microsoft.com/office/drawing/2014/main" id="{8ECF4810-68E4-C3E6-3745-B01A8F46F87A}"/>
                </a:ext>
              </a:extLst>
            </p:cNvPr>
            <p:cNvSpPr/>
            <p:nvPr/>
          </p:nvSpPr>
          <p:spPr bwMode="auto">
            <a:xfrm>
              <a:off x="467544" y="4725144"/>
              <a:ext cx="8352928" cy="1368152"/>
            </a:xfrm>
            <a:prstGeom prst="rect">
              <a:avLst/>
            </a:prstGeom>
            <a:solidFill>
              <a:schemeClr val="accent5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defTabSz="685800" eaLnBrk="0" hangingPunct="0"/>
              <a:endParaRPr lang="de-DE" sz="1800">
                <a:latin typeface="Arial" pitchFamily="-107" charset="0"/>
                <a:ea typeface="ＭＳ Ｐゴシック" pitchFamily="-107" charset="-128"/>
                <a:cs typeface="ＭＳ Ｐゴシック" pitchFamily="-107" charset="-128"/>
              </a:endParaRPr>
            </a:p>
          </p:txBody>
        </p:sp>
        <p:sp>
          <p:nvSpPr>
            <p:cNvPr id="31" name="Text Box 1046">
              <a:extLst>
                <a:ext uri="{FF2B5EF4-FFF2-40B4-BE49-F238E27FC236}">
                  <a16:creationId xmlns:a16="http://schemas.microsoft.com/office/drawing/2014/main" id="{1A0B8103-6C04-ED4F-61F7-459DA80569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2039" y="5065519"/>
              <a:ext cx="1176391" cy="984885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square" anchor="t">
              <a:prstTxWarp prst="textNoShape">
                <a:avLst/>
              </a:prstTxWarp>
              <a:spAutoFit/>
            </a:bodyPr>
            <a:lstStyle/>
            <a:p>
              <a:r>
                <a:rPr lang="de-DE" sz="1050" b="1" dirty="0">
                  <a:latin typeface="Calibri"/>
                </a:rPr>
                <a:t>Telefon-nummer, </a:t>
              </a:r>
              <a:br>
                <a:rPr lang="de-DE" sz="1050" b="1" dirty="0">
                  <a:latin typeface="Calibri"/>
                </a:rPr>
              </a:br>
              <a:r>
                <a:rPr lang="de-DE" sz="1050" b="1" dirty="0">
                  <a:latin typeface="Calibri"/>
                </a:rPr>
                <a:t>E-Mail-Adresse</a:t>
              </a:r>
            </a:p>
          </p:txBody>
        </p:sp>
        <p:sp>
          <p:nvSpPr>
            <p:cNvPr id="32" name="Text Box 1047">
              <a:extLst>
                <a:ext uri="{FF2B5EF4-FFF2-40B4-BE49-F238E27FC236}">
                  <a16:creationId xmlns:a16="http://schemas.microsoft.com/office/drawing/2014/main" id="{E5692FB2-42CC-94B0-B51C-99FB93C2BA7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89509" y="5065519"/>
              <a:ext cx="1039175" cy="76944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anchor="t">
              <a:prstTxWarp prst="textNoShape">
                <a:avLst/>
              </a:prstTxWarp>
              <a:spAutoFit/>
            </a:bodyPr>
            <a:lstStyle/>
            <a:p>
              <a:r>
                <a:rPr lang="de-DE" sz="1050" b="1" dirty="0">
                  <a:latin typeface="Calibri"/>
                </a:rPr>
                <a:t>Konto-</a:t>
              </a:r>
            </a:p>
            <a:p>
              <a:r>
                <a:rPr lang="de-DE" sz="1050" b="1" dirty="0" err="1">
                  <a:latin typeface="Calibri"/>
                </a:rPr>
                <a:t>nummer</a:t>
              </a:r>
              <a:r>
                <a:rPr lang="de-DE" sz="1050" b="1" dirty="0">
                  <a:latin typeface="Calibri"/>
                </a:rPr>
                <a:t>,</a:t>
              </a:r>
            </a:p>
            <a:p>
              <a:r>
                <a:rPr lang="de-DE" sz="1050" b="1" dirty="0">
                  <a:latin typeface="Calibri"/>
                </a:rPr>
                <a:t>IP-Adresse</a:t>
              </a:r>
            </a:p>
          </p:txBody>
        </p:sp>
        <p:sp>
          <p:nvSpPr>
            <p:cNvPr id="33" name="Text Box 1048">
              <a:extLst>
                <a:ext uri="{FF2B5EF4-FFF2-40B4-BE49-F238E27FC236}">
                  <a16:creationId xmlns:a16="http://schemas.microsoft.com/office/drawing/2014/main" id="{A78AA7BB-8BB5-B4D2-B864-BDC526FD670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75856" y="5065519"/>
              <a:ext cx="2088232" cy="55399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square" anchor="t">
              <a:prstTxWarp prst="textNoShape">
                <a:avLst/>
              </a:prstTxWarp>
              <a:spAutoFit/>
            </a:bodyPr>
            <a:lstStyle/>
            <a:p>
              <a:r>
                <a:rPr lang="de-DE" sz="1050" b="1" dirty="0">
                  <a:latin typeface="Calibri"/>
                </a:rPr>
                <a:t>Biometrische Merkmale</a:t>
              </a:r>
            </a:p>
            <a:p>
              <a:r>
                <a:rPr lang="de-DE" sz="1050" b="1" dirty="0">
                  <a:latin typeface="Calibri"/>
                </a:rPr>
                <a:t>(solange kein Register)</a:t>
              </a:r>
            </a:p>
          </p:txBody>
        </p:sp>
        <p:sp>
          <p:nvSpPr>
            <p:cNvPr id="34" name="Text Box 1049">
              <a:extLst>
                <a:ext uri="{FF2B5EF4-FFF2-40B4-BE49-F238E27FC236}">
                  <a16:creationId xmlns:a16="http://schemas.microsoft.com/office/drawing/2014/main" id="{D1CDB0DA-4056-EAAD-8C48-E0BB5BD3739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92081" y="4849996"/>
              <a:ext cx="1373448" cy="55399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square" anchor="t">
              <a:prstTxWarp prst="textNoShape">
                <a:avLst/>
              </a:prstTxWarp>
              <a:spAutoFit/>
            </a:bodyPr>
            <a:lstStyle/>
            <a:p>
              <a:r>
                <a:rPr lang="de-DE" sz="1050" b="1" dirty="0">
                  <a:latin typeface="Calibri"/>
                </a:rPr>
                <a:t>Künstlername, </a:t>
              </a:r>
              <a:r>
                <a:rPr lang="de-DE" sz="1050" b="1" dirty="0" err="1">
                  <a:latin typeface="Calibri"/>
                </a:rPr>
                <a:t>Nickname</a:t>
              </a:r>
              <a:endParaRPr lang="de-DE" sz="1050" b="1" dirty="0">
                <a:latin typeface="Calibri"/>
              </a:endParaRPr>
            </a:p>
          </p:txBody>
        </p:sp>
        <p:sp>
          <p:nvSpPr>
            <p:cNvPr id="35" name="Text Box 1050">
              <a:extLst>
                <a:ext uri="{FF2B5EF4-FFF2-40B4-BE49-F238E27FC236}">
                  <a16:creationId xmlns:a16="http://schemas.microsoft.com/office/drawing/2014/main" id="{8409C025-ED3C-8F28-5522-0CBEF06326B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92281" y="4849996"/>
              <a:ext cx="1152128" cy="55399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square" anchor="t">
              <a:prstTxWarp prst="textNoShape">
                <a:avLst/>
              </a:prstTxWarp>
              <a:spAutoFit/>
            </a:bodyPr>
            <a:lstStyle/>
            <a:p>
              <a:r>
                <a:rPr lang="de-DE" sz="1050" b="1" dirty="0">
                  <a:latin typeface="Calibri"/>
                </a:rPr>
                <a:t>Kennwort, Zufallszahl</a:t>
              </a:r>
            </a:p>
          </p:txBody>
        </p:sp>
        <p:sp>
          <p:nvSpPr>
            <p:cNvPr id="36" name="Text Box 1046">
              <a:extLst>
                <a:ext uri="{FF2B5EF4-FFF2-40B4-BE49-F238E27FC236}">
                  <a16:creationId xmlns:a16="http://schemas.microsoft.com/office/drawing/2014/main" id="{3CB8350C-5CEB-7DD8-D24F-07127D9BE0A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7544" y="4745896"/>
              <a:ext cx="2182649" cy="338555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anchor="b">
              <a:prstTxWarp prst="textNoShape">
                <a:avLst/>
              </a:prstTxWarp>
              <a:spAutoFit/>
            </a:bodyPr>
            <a:lstStyle/>
            <a:p>
              <a:r>
                <a:rPr lang="de-DE" sz="1050" dirty="0">
                  <a:latin typeface="Calibri"/>
                </a:rPr>
                <a:t>Beispiele für Pseudonyme:</a:t>
              </a:r>
            </a:p>
          </p:txBody>
        </p:sp>
      </p:grpSp>
      <p:sp>
        <p:nvSpPr>
          <p:cNvPr id="37" name="Freeform 1028">
            <a:extLst>
              <a:ext uri="{FF2B5EF4-FFF2-40B4-BE49-F238E27FC236}">
                <a16:creationId xmlns:a16="http://schemas.microsoft.com/office/drawing/2014/main" id="{27608DCD-E14F-7E7C-C04E-A9975D34A668}"/>
              </a:ext>
            </a:extLst>
          </p:cNvPr>
          <p:cNvSpPr>
            <a:spLocks/>
          </p:cNvSpPr>
          <p:nvPr/>
        </p:nvSpPr>
        <p:spPr bwMode="auto">
          <a:xfrm>
            <a:off x="1493658" y="4029913"/>
            <a:ext cx="6264696" cy="540059"/>
          </a:xfrm>
          <a:custGeom>
            <a:avLst/>
            <a:gdLst/>
            <a:ahLst/>
            <a:cxnLst>
              <a:cxn ang="0">
                <a:pos x="0" y="720"/>
              </a:cxn>
              <a:cxn ang="0">
                <a:pos x="5952" y="0"/>
              </a:cxn>
              <a:cxn ang="0">
                <a:pos x="5952" y="720"/>
              </a:cxn>
              <a:cxn ang="0">
                <a:pos x="0" y="720"/>
              </a:cxn>
            </a:cxnLst>
            <a:rect l="0" t="0" r="r" b="b"/>
            <a:pathLst>
              <a:path w="5953" h="721">
                <a:moveTo>
                  <a:pt x="0" y="720"/>
                </a:moveTo>
                <a:lnTo>
                  <a:pt x="5952" y="0"/>
                </a:lnTo>
                <a:lnTo>
                  <a:pt x="5952" y="720"/>
                </a:lnTo>
                <a:lnTo>
                  <a:pt x="0" y="720"/>
                </a:lnTo>
              </a:path>
            </a:pathLst>
          </a:custGeom>
          <a:solidFill>
            <a:schemeClr val="accent1"/>
          </a:solidFill>
          <a:ln w="12700" cap="rnd" cmpd="sng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de-DE" sz="1800" dirty="0">
              <a:latin typeface="Calibri"/>
            </a:endParaRPr>
          </a:p>
        </p:txBody>
      </p:sp>
      <p:sp>
        <p:nvSpPr>
          <p:cNvPr id="38" name="Rectangle 1039">
            <a:extLst>
              <a:ext uri="{FF2B5EF4-FFF2-40B4-BE49-F238E27FC236}">
                <a16:creationId xmlns:a16="http://schemas.microsoft.com/office/drawing/2014/main" id="{0E04C34B-BC13-8F3D-79C8-3C9DD64217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73328" y="4294896"/>
            <a:ext cx="5031020" cy="27507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67865" tIns="33338" rIns="67865" bIns="33338">
            <a:prstTxWarp prst="textNoShape">
              <a:avLst/>
            </a:prstTxWarp>
            <a:spAutoFit/>
          </a:bodyPr>
          <a:lstStyle/>
          <a:p>
            <a:pPr algn="r"/>
            <a:r>
              <a:rPr lang="de-DE" sz="1350" dirty="0">
                <a:latin typeface="Calibri"/>
              </a:rPr>
              <a:t>Gute Skalierbarkeit bezüglich der Anonymität</a:t>
            </a:r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C2113995-1D63-51D1-70EC-4F0A0AF5A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04599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87474"/>
            <a:ext cx="8458200" cy="769776"/>
          </a:xfrm>
        </p:spPr>
        <p:txBody>
          <a:bodyPr/>
          <a:lstStyle/>
          <a:p>
            <a:r>
              <a:rPr lang="en-US" dirty="0" err="1"/>
              <a:t>Zweispaltiges</a:t>
            </a:r>
            <a:r>
              <a:rPr lang="en-US" dirty="0"/>
              <a:t> Layout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>
          <a:xfrm>
            <a:off x="457200" y="914400"/>
            <a:ext cx="4152900" cy="4114800"/>
          </a:xfrm>
        </p:spPr>
        <p:txBody>
          <a:bodyPr/>
          <a:lstStyle/>
          <a:p>
            <a:endParaRPr lang="en-US" dirty="0"/>
          </a:p>
          <a:p>
            <a:r>
              <a:rPr lang="en-US" dirty="0"/>
              <a:t>Some content on the left.</a:t>
            </a:r>
          </a:p>
          <a:p>
            <a:pPr lvl="1"/>
            <a:r>
              <a:rPr lang="de-DE" dirty="0"/>
              <a:t>Privacy </a:t>
            </a:r>
            <a:r>
              <a:rPr lang="de-DE" dirty="0" err="1"/>
              <a:t>Enhancing</a:t>
            </a:r>
            <a:r>
              <a:rPr lang="de-DE" dirty="0"/>
              <a:t> Technologies (PET)</a:t>
            </a:r>
          </a:p>
          <a:p>
            <a:pPr lvl="1"/>
            <a:r>
              <a:rPr lang="de-DE" dirty="0"/>
              <a:t>Security Management &amp; Risk Management</a:t>
            </a:r>
          </a:p>
          <a:p>
            <a:pPr lvl="1"/>
            <a:r>
              <a:rPr lang="de-DE" dirty="0"/>
              <a:t>Security </a:t>
            </a:r>
            <a:r>
              <a:rPr lang="de-DE" dirty="0" err="1"/>
              <a:t>of</a:t>
            </a:r>
            <a:r>
              <a:rPr lang="de-DE" dirty="0"/>
              <a:t> Mobile Systems</a:t>
            </a:r>
          </a:p>
          <a:p>
            <a:endParaRPr lang="de-DE" dirty="0"/>
          </a:p>
          <a:p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consectetur</a:t>
            </a:r>
            <a:r>
              <a:rPr lang="de-DE" dirty="0"/>
              <a:t> </a:t>
            </a:r>
            <a:r>
              <a:rPr lang="de-DE" dirty="0" err="1"/>
              <a:t>adipisicing</a:t>
            </a:r>
            <a:r>
              <a:rPr lang="de-DE" dirty="0"/>
              <a:t> </a:t>
            </a:r>
            <a:r>
              <a:rPr lang="de-DE" dirty="0" err="1"/>
              <a:t>elit</a:t>
            </a:r>
            <a:r>
              <a:rPr lang="de-DE" dirty="0"/>
              <a:t>, sed do </a:t>
            </a:r>
            <a:r>
              <a:rPr lang="de-DE" dirty="0" err="1"/>
              <a:t>eiusmod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incididunt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aliqua</a:t>
            </a:r>
            <a:r>
              <a:rPr lang="de-DE" dirty="0"/>
              <a:t>.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enim</a:t>
            </a:r>
            <a:r>
              <a:rPr lang="de-DE" dirty="0"/>
              <a:t> ad minim </a:t>
            </a:r>
            <a:r>
              <a:rPr lang="de-DE" dirty="0" err="1"/>
              <a:t>veniam</a:t>
            </a:r>
            <a:r>
              <a:rPr lang="de-DE" dirty="0"/>
              <a:t>, </a:t>
            </a:r>
            <a:r>
              <a:rPr lang="de-DE" dirty="0" err="1"/>
              <a:t>quis</a:t>
            </a:r>
            <a:r>
              <a:rPr lang="de-DE" dirty="0"/>
              <a:t> </a:t>
            </a:r>
            <a:r>
              <a:rPr lang="de-DE" dirty="0" err="1"/>
              <a:t>nostrud</a:t>
            </a:r>
            <a:r>
              <a:rPr lang="de-DE" dirty="0"/>
              <a:t> </a:t>
            </a:r>
            <a:r>
              <a:rPr lang="de-DE" dirty="0" err="1"/>
              <a:t>exercitation</a:t>
            </a:r>
            <a:r>
              <a:rPr lang="de-DE" dirty="0"/>
              <a:t> </a:t>
            </a:r>
            <a:r>
              <a:rPr lang="de-DE" dirty="0" err="1"/>
              <a:t>ullamco</a:t>
            </a:r>
            <a:r>
              <a:rPr lang="de-DE" dirty="0"/>
              <a:t> </a:t>
            </a:r>
            <a:r>
              <a:rPr lang="de-DE" dirty="0" err="1"/>
              <a:t>laboris</a:t>
            </a:r>
            <a:r>
              <a:rPr lang="de-DE" dirty="0"/>
              <a:t> nisi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aliquip</a:t>
            </a:r>
            <a:r>
              <a:rPr lang="de-DE" dirty="0"/>
              <a:t> ex </a:t>
            </a:r>
            <a:r>
              <a:rPr lang="de-DE" dirty="0" err="1"/>
              <a:t>ea</a:t>
            </a:r>
            <a:r>
              <a:rPr lang="de-DE" dirty="0"/>
              <a:t> commodo </a:t>
            </a:r>
            <a:r>
              <a:rPr lang="de-DE" dirty="0" err="1"/>
              <a:t>consequat</a:t>
            </a:r>
            <a:r>
              <a:rPr lang="de-DE" dirty="0"/>
              <a:t>. </a:t>
            </a:r>
          </a:p>
          <a:p>
            <a:pPr lvl="1"/>
            <a:endParaRPr lang="de-DE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>
          <a:xfrm>
            <a:off x="4762500" y="914400"/>
            <a:ext cx="4152900" cy="4114800"/>
          </a:xfrm>
        </p:spPr>
        <p:txBody>
          <a:bodyPr/>
          <a:lstStyle/>
          <a:p>
            <a:endParaRPr lang="de-DE" dirty="0"/>
          </a:p>
          <a:p>
            <a:r>
              <a:rPr lang="de-DE" dirty="0"/>
              <a:t>Methoden und Verfahren</a:t>
            </a:r>
          </a:p>
          <a:p>
            <a:pPr lvl="1"/>
            <a:r>
              <a:rPr lang="de-DE" dirty="0"/>
              <a:t>Durchführung einer Risikoanalyse</a:t>
            </a:r>
          </a:p>
          <a:p>
            <a:pPr lvl="1"/>
            <a:r>
              <a:rPr lang="de-DE" dirty="0"/>
              <a:t>Einsatz von Verschlüsselungsverfahren</a:t>
            </a:r>
          </a:p>
          <a:p>
            <a:pPr lvl="1"/>
            <a:r>
              <a:rPr lang="de-DE" dirty="0"/>
              <a:t>Intrusion </a:t>
            </a:r>
            <a:r>
              <a:rPr lang="de-DE" dirty="0" err="1"/>
              <a:t>Prevention</a:t>
            </a:r>
            <a:r>
              <a:rPr lang="de-DE" dirty="0"/>
              <a:t> and </a:t>
            </a:r>
            <a:r>
              <a:rPr lang="de-DE" dirty="0" err="1"/>
              <a:t>Detection</a:t>
            </a:r>
            <a:endParaRPr lang="de-DE" dirty="0"/>
          </a:p>
          <a:p>
            <a:endParaRPr lang="en-US" dirty="0"/>
          </a:p>
          <a:p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consectetur</a:t>
            </a:r>
            <a:r>
              <a:rPr lang="de-DE" dirty="0"/>
              <a:t> </a:t>
            </a:r>
            <a:r>
              <a:rPr lang="de-DE" dirty="0" err="1"/>
              <a:t>adipisicing</a:t>
            </a:r>
            <a:r>
              <a:rPr lang="de-DE" dirty="0"/>
              <a:t> </a:t>
            </a:r>
            <a:r>
              <a:rPr lang="de-DE" dirty="0" err="1"/>
              <a:t>elit</a:t>
            </a:r>
            <a:r>
              <a:rPr lang="de-DE" dirty="0"/>
              <a:t>, sed do </a:t>
            </a:r>
            <a:r>
              <a:rPr lang="de-DE" dirty="0" err="1"/>
              <a:t>eiusmod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incididunt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aliqua</a:t>
            </a:r>
            <a:r>
              <a:rPr lang="de-DE" dirty="0"/>
              <a:t>.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enim</a:t>
            </a:r>
            <a:r>
              <a:rPr lang="de-DE" dirty="0"/>
              <a:t> ad minim </a:t>
            </a:r>
            <a:r>
              <a:rPr lang="de-DE" dirty="0" err="1"/>
              <a:t>veniam</a:t>
            </a:r>
            <a:r>
              <a:rPr lang="de-DE" dirty="0"/>
              <a:t>, </a:t>
            </a:r>
            <a:r>
              <a:rPr lang="de-DE" dirty="0" err="1"/>
              <a:t>quis</a:t>
            </a:r>
            <a:r>
              <a:rPr lang="de-DE" dirty="0"/>
              <a:t> </a:t>
            </a:r>
            <a:r>
              <a:rPr lang="de-DE" dirty="0" err="1"/>
              <a:t>nostrud</a:t>
            </a:r>
            <a:r>
              <a:rPr lang="de-DE" dirty="0"/>
              <a:t> </a:t>
            </a:r>
            <a:r>
              <a:rPr lang="de-DE" dirty="0" err="1"/>
              <a:t>exercitation</a:t>
            </a:r>
            <a:r>
              <a:rPr lang="de-DE" dirty="0"/>
              <a:t> </a:t>
            </a:r>
            <a:r>
              <a:rPr lang="de-DE" dirty="0" err="1"/>
              <a:t>ullamco</a:t>
            </a:r>
            <a:r>
              <a:rPr lang="de-DE" dirty="0"/>
              <a:t> </a:t>
            </a:r>
            <a:r>
              <a:rPr lang="de-DE" dirty="0" err="1"/>
              <a:t>laboris</a:t>
            </a:r>
            <a:r>
              <a:rPr lang="de-DE" dirty="0"/>
              <a:t> nisi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aliquip</a:t>
            </a:r>
            <a:r>
              <a:rPr lang="de-DE" dirty="0"/>
              <a:t> ex </a:t>
            </a:r>
            <a:r>
              <a:rPr lang="de-DE" dirty="0" err="1"/>
              <a:t>ea</a:t>
            </a:r>
            <a:r>
              <a:rPr lang="de-DE" dirty="0"/>
              <a:t> commodo </a:t>
            </a:r>
            <a:r>
              <a:rPr lang="de-DE" dirty="0" err="1"/>
              <a:t>consequat</a:t>
            </a:r>
            <a:r>
              <a:rPr lang="de-DE" dirty="0"/>
              <a:t>. 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12" name="Inhaltsplatzhalter 11">
            <a:extLst>
              <a:ext uri="{FF2B5EF4-FFF2-40B4-BE49-F238E27FC236}">
                <a16:creationId xmlns:a16="http://schemas.microsoft.com/office/drawing/2014/main" id="{767AA11C-26FB-8F20-806E-9EB48B847E15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2" name="Rectangle 5">
            <a:extLst>
              <a:ext uri="{FF2B5EF4-FFF2-40B4-BE49-F238E27FC236}">
                <a16:creationId xmlns:a16="http://schemas.microsoft.com/office/drawing/2014/main" id="{757D38E0-5D40-C96D-173B-BA46CBEA18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721" y="4294826"/>
            <a:ext cx="8452023" cy="594066"/>
          </a:xfrm>
          <a:prstGeom prst="rect">
            <a:avLst/>
          </a:prstGeom>
          <a:solidFill>
            <a:schemeClr val="accent5"/>
          </a:solidFill>
          <a:ln w="9525">
            <a:noFill/>
            <a:miter lim="800000"/>
            <a:headEnd/>
            <a:tailEnd/>
          </a:ln>
          <a:effectLst/>
        </p:spPr>
        <p:txBody>
          <a:bodyPr wrap="squar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de-DE" sz="1350" dirty="0" err="1"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Lorem</a:t>
            </a:r>
            <a:r>
              <a:rPr lang="de-DE" sz="1350" dirty="0"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 </a:t>
            </a:r>
            <a:r>
              <a:rPr lang="de-DE" sz="1350" dirty="0" err="1"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ipsum</a:t>
            </a:r>
            <a:r>
              <a:rPr lang="de-DE" sz="1350" dirty="0"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 </a:t>
            </a:r>
            <a:r>
              <a:rPr lang="de-DE" sz="1350" dirty="0" err="1"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dolor</a:t>
            </a:r>
            <a:r>
              <a:rPr lang="de-DE" sz="1350" dirty="0"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 </a:t>
            </a:r>
            <a:r>
              <a:rPr lang="de-DE" sz="1350" dirty="0" err="1"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sit</a:t>
            </a:r>
            <a:r>
              <a:rPr lang="de-DE" sz="1350" dirty="0"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 </a:t>
            </a:r>
            <a:r>
              <a:rPr lang="de-DE" sz="1350" dirty="0" err="1"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amet</a:t>
            </a:r>
            <a:r>
              <a:rPr lang="de-DE" sz="1350" dirty="0"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, </a:t>
            </a:r>
            <a:r>
              <a:rPr lang="de-DE" sz="1350" dirty="0" err="1"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consectetur</a:t>
            </a:r>
            <a:r>
              <a:rPr lang="de-DE" sz="1350" dirty="0"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 </a:t>
            </a:r>
            <a:r>
              <a:rPr lang="de-DE" sz="1350" dirty="0" err="1"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adipisicing</a:t>
            </a:r>
            <a:r>
              <a:rPr lang="de-DE" sz="1350" dirty="0"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 </a:t>
            </a:r>
            <a:r>
              <a:rPr lang="de-DE" sz="1350" dirty="0" err="1"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elit</a:t>
            </a:r>
            <a:r>
              <a:rPr lang="de-DE" sz="1350" dirty="0"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...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51179613-5176-C9BB-31EA-84B2C0C23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6211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0546986D-438A-6B67-1D1D-125707488FA8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de-DE" dirty="0"/>
          </a:p>
          <a:p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consectetur</a:t>
            </a:r>
            <a:r>
              <a:rPr lang="de-DE" dirty="0"/>
              <a:t> </a:t>
            </a:r>
            <a:r>
              <a:rPr lang="de-DE" dirty="0" err="1"/>
              <a:t>adipisicing</a:t>
            </a:r>
            <a:r>
              <a:rPr lang="de-DE" dirty="0"/>
              <a:t> </a:t>
            </a:r>
            <a:r>
              <a:rPr lang="de-DE" dirty="0" err="1"/>
              <a:t>elit</a:t>
            </a:r>
            <a:r>
              <a:rPr lang="de-DE" dirty="0"/>
              <a:t>, sed do </a:t>
            </a:r>
            <a:r>
              <a:rPr lang="de-DE" dirty="0" err="1"/>
              <a:t>eiusmod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incididunt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aliqua</a:t>
            </a:r>
            <a:r>
              <a:rPr lang="de-DE" dirty="0"/>
              <a:t>.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enim</a:t>
            </a:r>
            <a:r>
              <a:rPr lang="de-DE" dirty="0"/>
              <a:t> ad minim </a:t>
            </a:r>
            <a:r>
              <a:rPr lang="de-DE" dirty="0" err="1"/>
              <a:t>veniam</a:t>
            </a:r>
            <a:r>
              <a:rPr lang="de-DE" dirty="0"/>
              <a:t>, </a:t>
            </a:r>
            <a:r>
              <a:rPr lang="de-DE" dirty="0" err="1"/>
              <a:t>quis</a:t>
            </a:r>
            <a:r>
              <a:rPr lang="de-DE" dirty="0"/>
              <a:t> </a:t>
            </a:r>
            <a:r>
              <a:rPr lang="de-DE" dirty="0" err="1"/>
              <a:t>nostrud</a:t>
            </a:r>
            <a:r>
              <a:rPr lang="de-DE" dirty="0"/>
              <a:t> </a:t>
            </a:r>
            <a:r>
              <a:rPr lang="de-DE" dirty="0" err="1"/>
              <a:t>exercitation</a:t>
            </a:r>
            <a:r>
              <a:rPr lang="de-DE" dirty="0"/>
              <a:t> </a:t>
            </a:r>
            <a:r>
              <a:rPr lang="de-DE" dirty="0" err="1"/>
              <a:t>ullamco</a:t>
            </a:r>
            <a:r>
              <a:rPr lang="de-DE" dirty="0"/>
              <a:t> </a:t>
            </a:r>
            <a:r>
              <a:rPr lang="de-DE" dirty="0" err="1"/>
              <a:t>laboris</a:t>
            </a:r>
            <a:r>
              <a:rPr lang="de-DE" dirty="0"/>
              <a:t> nisi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aliquip</a:t>
            </a:r>
            <a:r>
              <a:rPr lang="de-DE" dirty="0"/>
              <a:t> ex </a:t>
            </a:r>
            <a:r>
              <a:rPr lang="de-DE" dirty="0" err="1"/>
              <a:t>ea</a:t>
            </a:r>
            <a:r>
              <a:rPr lang="de-DE" dirty="0"/>
              <a:t> commodo </a:t>
            </a:r>
            <a:r>
              <a:rPr lang="de-DE" dirty="0" err="1"/>
              <a:t>consequat</a:t>
            </a:r>
            <a:r>
              <a:rPr lang="de-DE" dirty="0"/>
              <a:t>. </a:t>
            </a:r>
          </a:p>
          <a:p>
            <a:endParaRPr lang="de-DE" dirty="0"/>
          </a:p>
          <a:p>
            <a:r>
              <a:rPr lang="de-DE" dirty="0"/>
              <a:t>Themen</a:t>
            </a:r>
          </a:p>
          <a:p>
            <a:pPr lvl="1"/>
            <a:r>
              <a:rPr lang="de-DE" dirty="0"/>
              <a:t>Privacy </a:t>
            </a:r>
            <a:r>
              <a:rPr lang="de-DE" dirty="0" err="1"/>
              <a:t>Enhancing</a:t>
            </a:r>
            <a:r>
              <a:rPr lang="de-DE" dirty="0"/>
              <a:t> Technologies (PET)</a:t>
            </a:r>
          </a:p>
          <a:p>
            <a:pPr lvl="1"/>
            <a:r>
              <a:rPr lang="de-DE" dirty="0"/>
              <a:t>Security Management &amp; Risk Management</a:t>
            </a:r>
          </a:p>
          <a:p>
            <a:pPr lvl="1"/>
            <a:r>
              <a:rPr lang="de-DE" dirty="0"/>
              <a:t>Security </a:t>
            </a:r>
            <a:r>
              <a:rPr lang="de-DE" dirty="0" err="1"/>
              <a:t>of</a:t>
            </a:r>
            <a:r>
              <a:rPr lang="de-DE" dirty="0"/>
              <a:t> Mobile Systems</a:t>
            </a:r>
          </a:p>
          <a:p>
            <a:endParaRPr lang="de-DE" dirty="0"/>
          </a:p>
          <a:p>
            <a:r>
              <a:rPr lang="de-DE" dirty="0"/>
              <a:t>Weitere Informationen</a:t>
            </a:r>
          </a:p>
          <a:p>
            <a:pPr lvl="1"/>
            <a:r>
              <a:rPr lang="de-DE" dirty="0"/>
              <a:t>http://</a:t>
            </a:r>
            <a:r>
              <a:rPr lang="de-DE" dirty="0" err="1"/>
              <a:t>www.informatik.uni-hamburg.de</a:t>
            </a:r>
            <a:r>
              <a:rPr lang="de-DE" dirty="0"/>
              <a:t>/</a:t>
            </a:r>
            <a:r>
              <a:rPr lang="de-DE" dirty="0" err="1"/>
              <a:t>svs</a:t>
            </a:r>
            <a:endParaRPr lang="de-DE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F6334451-76CC-E1E0-61C1-CF908E16E8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Zusammenfassung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207E2AEE-89AC-F0B7-C0E9-84E7549C0011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6E0BFC34-D07A-5BD1-1DCC-1A0C932433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37115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SVSTemplate2023">
      <a:dk1>
        <a:srgbClr val="000000"/>
      </a:dk1>
      <a:lt1>
        <a:srgbClr val="FFFFFF"/>
      </a:lt1>
      <a:dk2>
        <a:srgbClr val="325786"/>
      </a:dk2>
      <a:lt2>
        <a:srgbClr val="B2B2B2"/>
      </a:lt2>
      <a:accent1>
        <a:srgbClr val="99CCFF"/>
      </a:accent1>
      <a:accent2>
        <a:srgbClr val="C1212A"/>
      </a:accent2>
      <a:accent3>
        <a:srgbClr val="9BBB59"/>
      </a:accent3>
      <a:accent4>
        <a:srgbClr val="8064A2"/>
      </a:accent4>
      <a:accent5>
        <a:srgbClr val="C9E1FF"/>
      </a:accent5>
      <a:accent6>
        <a:srgbClr val="F79646"/>
      </a:accent6>
      <a:hlink>
        <a:srgbClr val="335786"/>
      </a:hlink>
      <a:folHlink>
        <a:srgbClr val="335786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498</Words>
  <Application>Microsoft Macintosh PowerPoint</Application>
  <PresentationFormat>Bildschirmpräsentation (16:9)</PresentationFormat>
  <Paragraphs>104</Paragraphs>
  <Slides>7</Slides>
  <Notes>2</Notes>
  <HiddenSlides>0</HiddenSlides>
  <MMClips>0</MMClips>
  <ScaleCrop>false</ScaleCrop>
  <HeadingPairs>
    <vt:vector size="8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Eingebettete OLE-Server</vt:lpstr>
      </vt:variant>
      <vt:variant>
        <vt:i4>1</vt:i4>
      </vt:variant>
      <vt:variant>
        <vt:lpstr>Folientitel</vt:lpstr>
      </vt:variant>
      <vt:variant>
        <vt:i4>7</vt:i4>
      </vt:variant>
    </vt:vector>
  </HeadingPairs>
  <TitlesOfParts>
    <vt:vector size="12" baseType="lpstr">
      <vt:lpstr>Arial</vt:lpstr>
      <vt:lpstr>Calibri</vt:lpstr>
      <vt:lpstr>Wingdings</vt:lpstr>
      <vt:lpstr>Office Theme</vt:lpstr>
      <vt:lpstr>Clip</vt:lpstr>
      <vt:lpstr>Template für Folien</vt:lpstr>
      <vt:lpstr>Einführung</vt:lpstr>
      <vt:lpstr>Beispiel für eine Abbildung</vt:lpstr>
      <vt:lpstr>Beispiel für eine Abbildung</vt:lpstr>
      <vt:lpstr>Arten von Pseudonymen</vt:lpstr>
      <vt:lpstr>Zweispaltiges Layout</vt:lpstr>
      <vt:lpstr>Zusammenfassung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Jesse Rosenthal</dc:creator>
  <cp:lastModifiedBy>Microsoft Office User</cp:lastModifiedBy>
  <cp:revision>47</cp:revision>
  <dcterms:created xsi:type="dcterms:W3CDTF">2017-06-05T14:10:58Z</dcterms:created>
  <dcterms:modified xsi:type="dcterms:W3CDTF">2023-10-12T09:01:57Z</dcterms:modified>
</cp:coreProperties>
</file>